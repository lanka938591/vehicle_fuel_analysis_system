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9" r:id="rId15"/>
    <p:sldId id="267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2F32D-2B97-4C9E-86DC-39E64C80D541}" v="18" dt="2026-09-30T10:38:56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/>
    <p:restoredTop sz="94759"/>
  </p:normalViewPr>
  <p:slideViewPr>
    <p:cSldViewPr snapToGrid="0" snapToObjects="1">
      <p:cViewPr varScale="1">
        <p:scale>
          <a:sx n="93" d="100"/>
          <a:sy n="93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C3D1C-2E22-49B5-950F-53E918AAC2AA}" type="datetimeFigureOut">
              <a:rPr lang="en-IN" smtClean="0"/>
              <a:t>01/10/26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2FF69-B8A6-4D50-8924-E843D72F6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3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2FF69-B8A6-4D50-8924-E843D72F6D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456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2FF69-B8A6-4D50-8924-E843D72F6D8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96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0C9AAF92-B0D1-DA5D-55F3-4AF8BA4DD14E}"/>
              </a:ext>
            </a:extLst>
          </p:cNvPr>
          <p:cNvSpPr/>
          <p:nvPr userDrawn="1"/>
        </p:nvSpPr>
        <p:spPr>
          <a:xfrm>
            <a:off x="1" y="1"/>
            <a:ext cx="1625600" cy="1006764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636" y="296718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486" y="29671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5636" y="1458768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85636" y="6380018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52636" y="6380018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81636" y="638001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BF8FA5F3-F0B9-2B98-733F-03784B678330}"/>
              </a:ext>
            </a:extLst>
          </p:cNvPr>
          <p:cNvSpPr/>
          <p:nvPr userDrawn="1"/>
        </p:nvSpPr>
        <p:spPr>
          <a:xfrm>
            <a:off x="1" y="0"/>
            <a:ext cx="1431636" cy="831273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67129" y="1235766"/>
            <a:ext cx="8183879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42D55"/>
                </a:solidFill>
                <a:latin typeface="Aptos"/>
              </a:rPr>
              <a:t>Data Analysis Essentials – Project Review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3343" y="2014425"/>
            <a:ext cx="67714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142D55"/>
                </a:solidFill>
                <a:latin typeface="Aptos"/>
              </a:rPr>
              <a:t>VEHICLE FUEL</a:t>
            </a:r>
            <a:r>
              <a:rPr lang="en-US" sz="3000" b="1" dirty="0">
                <a:solidFill>
                  <a:srgbClr val="142D55"/>
                </a:solidFill>
                <a:latin typeface="Aptos"/>
              </a:rPr>
              <a:t> </a:t>
            </a:r>
            <a:r>
              <a:rPr lang="en-IN" sz="3000" b="1" dirty="0">
                <a:solidFill>
                  <a:srgbClr val="142D55"/>
                </a:solidFill>
                <a:latin typeface="Aptos"/>
              </a:rPr>
              <a:t>ANALYSIS SYSTEM </a:t>
            </a:r>
            <a:endParaRPr sz="3000" b="1" dirty="0">
              <a:solidFill>
                <a:srgbClr val="142D55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01569" y="2875207"/>
            <a:ext cx="5715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A6270"/>
                </a:solidFill>
                <a:latin typeface="Aptos"/>
              </a:rPr>
              <a:t>Problem Statement  •  Dataset  •  Preprocessing  •  Initial Data Output</a:t>
            </a:r>
            <a:endParaRPr lang="en-IN" sz="1300" b="0" dirty="0">
              <a:solidFill>
                <a:srgbClr val="5A6270"/>
              </a:solidFill>
              <a:latin typeface="Aptos"/>
            </a:endParaRPr>
          </a:p>
          <a:p>
            <a:pPr algn="ctr"/>
            <a:endParaRPr lang="en-IN" sz="1300" b="0" dirty="0">
              <a:solidFill>
                <a:srgbClr val="5A6270"/>
              </a:solidFill>
              <a:latin typeface="Aptos"/>
            </a:endParaRPr>
          </a:p>
          <a:p>
            <a:pPr algn="ctr"/>
            <a:r>
              <a:rPr lang="en-IN" sz="1300" b="1" dirty="0">
                <a:solidFill>
                  <a:srgbClr val="FF0000"/>
                </a:solidFill>
                <a:latin typeface="Aptos"/>
              </a:rPr>
              <a:t>UNDER THE GUIDANCE OF K.VYDEHI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410736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142D55"/>
                </a:solidFill>
                <a:latin typeface="Aptos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9" y="4653224"/>
            <a:ext cx="525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dirty="0">
                <a:solidFill>
                  <a:srgbClr val="1E232D"/>
                </a:solidFill>
                <a:latin typeface="Aptos"/>
              </a:rPr>
              <a:t>Lanka Bala Tripura Sundari — 25B11CS513
</a:t>
            </a:r>
            <a:r>
              <a:rPr sz="1250" b="0" dirty="0" err="1">
                <a:solidFill>
                  <a:srgbClr val="1E232D"/>
                </a:solidFill>
                <a:latin typeface="Aptos"/>
              </a:rPr>
              <a:t>Podugu</a:t>
            </a:r>
            <a:r>
              <a:rPr sz="1250" b="0" dirty="0">
                <a:solidFill>
                  <a:srgbClr val="1E232D"/>
                </a:solidFill>
                <a:latin typeface="Aptos"/>
              </a:rPr>
              <a:t> Anusri — 25B11CS760
Pilli Gnaneswari — 25B11CS756
Akula Hansika — 25B11CS029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4623D6-8BA4-191A-A68F-3F7197EA86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775" y="259481"/>
            <a:ext cx="5779970" cy="7657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24C8B8-D1C5-3D74-4961-5F98F2AB64B9}"/>
              </a:ext>
            </a:extLst>
          </p:cNvPr>
          <p:cNvSpPr/>
          <p:nvPr/>
        </p:nvSpPr>
        <p:spPr>
          <a:xfrm>
            <a:off x="81219" y="108155"/>
            <a:ext cx="1514168" cy="7657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5551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DOMAIN &amp;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2D55"/>
                </a:solidFill>
                <a:latin typeface="Aptos"/>
              </a:rPr>
              <a:t>Automotive Domain &amp;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446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rPr dirty="0"/>
              <a:t>• Vehicles differ in engine specifications, dimensions, fuel type, transmission and efficiency.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rPr dirty="0"/>
              <a:t>• Fuel efficiency is influenced by factors such as engine size, cylinders, vehicle dimensions and fuel type.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rPr dirty="0"/>
              <a:t>• Data analytics can be used to compare vehicle specifications and identify fuel-efficiency patterns.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E232D"/>
                </a:solidFill>
                <a:latin typeface="Aptos"/>
              </a:defRPr>
            </a:pPr>
            <a:r>
              <a:rPr dirty="0"/>
              <a:t>• Our project analyzes Cars India data to understand vehicle fuel efficiency and support data-driven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4069080" cy="434340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572768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5D9E"/>
                </a:solidFill>
                <a:latin typeface="Aptos"/>
              </a:rPr>
              <a:t>VEHICLE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788920"/>
            <a:ext cx="2971800" cy="1051560"/>
          </a:xfrm>
          <a:prstGeom prst="round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8503920" y="2148840"/>
            <a:ext cx="1965960" cy="914400"/>
          </a:xfrm>
          <a:prstGeom prst="triangle">
            <a:avLst/>
          </a:prstGeom>
          <a:solidFill>
            <a:srgbClr val="2C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75320" y="3429000"/>
            <a:ext cx="502920" cy="502920"/>
          </a:xfrm>
          <a:prstGeom prst="ellipse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03336" y="355701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95560" y="3429000"/>
            <a:ext cx="502920" cy="502920"/>
          </a:xfrm>
          <a:prstGeom prst="ellipse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23576" y="355701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34340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E87D23"/>
                </a:solidFill>
                <a:latin typeface="Aptos"/>
              </a:rPr>
              <a:t>FUEL  •  ENGINE  • 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92040"/>
            <a:ext cx="3703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42D55"/>
                </a:solidFill>
                <a:latin typeface="Aptos"/>
              </a:rPr>
              <a:t>Analyze  →  Compare  →  Understand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143000"/>
            <a:ext cx="4572000" cy="5166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_real_2133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25880"/>
            <a:ext cx="4206240" cy="33375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60920" y="1325880"/>
            <a:ext cx="4206240" cy="3337560"/>
          </a:xfrm>
          <a:prstGeom prst="rect">
            <a:avLst/>
          </a:prstGeom>
          <a:noFill/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  <a:latin typeface="Aptos"/>
              </a:rPr>
              <a:t>REAL-WORLD FUEL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5257800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Aptos"/>
              </a:rPr>
              <a:t>Modern vehicles display fuel-economy information, making fuel efficiency a practical data-analysis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27080" cy="118872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10469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D55"/>
                </a:solidFill>
                <a:latin typeface="Aptos"/>
              </a:rPr>
              <a:t>Vehicle owners and fleet managers need a clear way to understand fuel efficiency and compare vehicles. Manual comparison of many vehicle specifications can be time-consuming and may not reveal useful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824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E87D23"/>
                </a:solidFill>
                <a:latin typeface="Aptos"/>
              </a:rPr>
              <a:t>OUR PROJECT ADDRESSES THIS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2724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" y="3529584"/>
            <a:ext cx="6492240" cy="192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50">
                <a:solidFill>
                  <a:srgbClr val="1E232D"/>
                </a:solidFill>
                <a:latin typeface="Aptos"/>
              </a:defRPr>
            </a:pPr>
            <a:r>
              <a:rPr lang="en-US" dirty="0"/>
              <a:t>*Manual analysis of vehicle fuel data makes it difficult to track fuel                                         consumption and vehicle efficiency.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50">
                <a:solidFill>
                  <a:srgbClr val="1E232D"/>
                </a:solidFill>
                <a:latin typeface="Aptos"/>
              </a:defRPr>
            </a:pPr>
            <a:r>
              <a:rPr lang="en-US" dirty="0"/>
              <a:t>*Identifying fuel-consumption trends and comparing vehicle performance             is challenging without proper data analysis.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50">
                <a:solidFill>
                  <a:srgbClr val="1E232D"/>
                </a:solidFill>
                <a:latin typeface="Aptos"/>
              </a:defRPr>
            </a:pPr>
            <a:r>
              <a:rPr lang="en-US" dirty="0"/>
              <a:t>*A data-driven system is needed to </a:t>
            </a:r>
            <a:r>
              <a:rPr lang="en-US" dirty="0" err="1"/>
              <a:t>analyse</a:t>
            </a:r>
            <a:r>
              <a:rPr lang="en-US" dirty="0"/>
              <a:t> and </a:t>
            </a:r>
            <a:r>
              <a:rPr lang="en-US" dirty="0" err="1"/>
              <a:t>visualise</a:t>
            </a:r>
            <a:r>
              <a:rPr lang="en-US" dirty="0"/>
              <a:t> fuel data, identify unusual usage, and provide meaningful insights.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4592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71907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C5D9E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92224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5D9E"/>
                </a:solidFill>
                <a:latin typeface="Aptos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178308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E232D"/>
                </a:solidFill>
                <a:latin typeface="Aptos"/>
              </a:rPr>
              <a:t>Analyze vehicle specifications and fuel-efficiency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56032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263347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D23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06624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D23"/>
                </a:solidFill>
                <a:latin typeface="Aptos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69748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E232D"/>
                </a:solidFill>
                <a:latin typeface="Aptos"/>
              </a:rPr>
              <a:t>Compare vehicles using fuel type, engine and efficiency attributes.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7472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" y="354787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875F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621024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875F"/>
                </a:solidFill>
                <a:latin typeface="Aptos"/>
              </a:rPr>
              <a:t>Perform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61188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E232D"/>
                </a:solidFill>
                <a:latin typeface="Aptos"/>
              </a:rPr>
              <a:t>Perform data-quality and missing-value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4389119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" y="4462271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2D55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535424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D55"/>
                </a:solidFill>
                <a:latin typeface="Aptos"/>
              </a:rPr>
              <a:t>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52628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E232D"/>
                </a:solidFill>
                <a:latin typeface="Aptos"/>
              </a:rPr>
              <a:t>Study relationships between vehicle characteristics and fuel efficiency.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30352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537667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C5D9E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5449824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C5D9E"/>
                </a:solidFill>
                <a:latin typeface="Aptos"/>
              </a:rPr>
              <a:t>Visualise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9152" y="544068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1E232D"/>
                </a:solidFill>
                <a:latin typeface="Aptos"/>
              </a:rPr>
              <a:t>Present findings through meaningful charts and comparisons.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144" y="60372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REAL WORLD EXAMPLE AND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D55"/>
                </a:solidFill>
                <a:latin typeface="Aptos"/>
              </a:rPr>
              <a:t>REAL-WORLD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713232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440" y="1664207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C5D9E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55064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32D"/>
                </a:solidFill>
                <a:latin typeface="Aptos"/>
              </a:rPr>
              <a:t>Needs a vehicle for daily travel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753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2D8E1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86228"/>
            <a:ext cx="3246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" y="2695956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C5D9E"/>
                </a:solidFill>
                <a:latin typeface="Aptos"/>
              </a:rPr>
              <a:t>MANY 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268681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E232D"/>
                </a:solidFill>
                <a:latin typeface="Aptos"/>
              </a:rPr>
              <a:t>Different fuel, engine, size and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88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2D8E1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59" y="3580638"/>
            <a:ext cx="3246120" cy="713232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1999" y="3682745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C5D9E"/>
                </a:solidFill>
                <a:latin typeface="Aptos"/>
              </a:rPr>
              <a:t>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7378" y="368122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32D"/>
                </a:solidFill>
                <a:latin typeface="Aptos"/>
              </a:rPr>
              <a:t>Which vehicle gives better fuel efficiency?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77867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2D8E1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81144"/>
            <a:ext cx="3246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" y="468325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C5D9E"/>
                </a:solidFill>
                <a:latin typeface="Aptos"/>
              </a:rPr>
              <a:t>OUR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8172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32D"/>
                </a:solidFill>
                <a:latin typeface="Aptos"/>
              </a:rPr>
              <a:t>Analyze → Compare → Identify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2684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2D8E1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05272"/>
            <a:ext cx="3246120" cy="713232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" y="57150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D875F"/>
                </a:solidFill>
                <a:latin typeface="Aptos"/>
              </a:rPr>
              <a:t>DATA-DRIVEN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705856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32D"/>
                </a:solidFill>
                <a:latin typeface="Aptos"/>
              </a:rPr>
              <a:t>Use evidence from the dataset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1280160"/>
            <a:ext cx="3429000" cy="4526280"/>
          </a:xfrm>
          <a:prstGeom prst="roundRect">
            <a:avLst/>
          </a:prstGeom>
          <a:solidFill>
            <a:srgbClr val="FCF2E9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157276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7D23"/>
                </a:solidFill>
                <a:latin typeface="Aptos"/>
              </a:rPr>
              <a:t>VEHICLE FUEL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92024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D55"/>
                </a:solidFill>
                <a:latin typeface="Aptos"/>
              </a:rPr>
              <a:t>ANALYSIS</a:t>
            </a:r>
          </a:p>
        </p:txBody>
      </p:sp>
      <p:sp>
        <p:nvSpPr>
          <p:cNvPr id="28" name="Arc 27"/>
          <p:cNvSpPr/>
          <p:nvPr/>
        </p:nvSpPr>
        <p:spPr>
          <a:xfrm>
            <a:off x="4800600" y="2788920"/>
            <a:ext cx="2240280" cy="1234440"/>
          </a:xfrm>
          <a:prstGeom prst="arc">
            <a:avLst/>
          </a:prstGeom>
          <a:noFill/>
          <a:ln w="635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60" y="315468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D55"/>
                </a:solidFill>
                <a:latin typeface="Aptos"/>
              </a:rPr>
              <a:t>Fuel
Efficiency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434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Aptos"/>
              </a:rPr>
              <a:t>Fuel • Engine •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0972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D55"/>
                </a:solidFill>
                <a:latin typeface="Aptos"/>
              </a:rPr>
              <a:t>WHY IS OUR PROJECT IMPORTANT?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664207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182879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2C5D9E"/>
                </a:solidFill>
                <a:latin typeface="Aptos"/>
              </a:rP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231135"/>
            <a:ext cx="1371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32D"/>
                </a:solidFill>
                <a:latin typeface="Aptos"/>
              </a:rPr>
              <a:t>Understand vehicle characteristics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664207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182879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E87D23"/>
                </a:solidFill>
                <a:latin typeface="Aptos"/>
              </a:rPr>
              <a:t>COMPARE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2231135"/>
            <a:ext cx="1371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32D"/>
                </a:solidFill>
                <a:latin typeface="Aptos"/>
              </a:rPr>
              <a:t>Compare different vehicles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401567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356615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D875F"/>
                </a:solidFill>
                <a:latin typeface="Aptos"/>
              </a:rPr>
              <a:t>EFFICIENCY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3968494"/>
            <a:ext cx="1371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32D"/>
                </a:solidFill>
                <a:latin typeface="Aptos"/>
              </a:rPr>
              <a:t>Study fuel-efficiency patterns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3401567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0" y="356615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42D55"/>
                </a:solidFill>
                <a:latin typeface="Aptos"/>
              </a:rPr>
              <a:t>DECISIONS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76688" y="3968494"/>
            <a:ext cx="1371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E232D"/>
                </a:solidFill>
                <a:latin typeface="Aptos"/>
              </a:rPr>
              <a:t>Support informed vehicle analysis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1143000"/>
            <a:ext cx="3566161" cy="4828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_real_859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3429256" cy="2797551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97680" y="1325880"/>
            <a:ext cx="3474720" cy="2834640"/>
          </a:xfrm>
          <a:prstGeom prst="rect">
            <a:avLst/>
          </a:prstGeom>
          <a:noFill/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0" y="4343400"/>
            <a:ext cx="300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D55"/>
                </a:solidFill>
                <a:latin typeface="Aptos"/>
              </a:rPr>
              <a:t>INDIAN ROAD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709160"/>
            <a:ext cx="291381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dirty="0">
                <a:solidFill>
                  <a:srgbClr val="5A6270"/>
                </a:solidFill>
                <a:latin typeface="Aptos"/>
              </a:rPr>
              <a:t>Vehicle type, fuel, engine and driving conditions all affect the way efficiency is understood.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1563" y="664777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DATASET SELECTION &amp;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D55"/>
                </a:solidFill>
                <a:latin typeface="Aptos"/>
              </a:rPr>
              <a:t>SELECTED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623560" cy="960120"/>
          </a:xfrm>
          <a:prstGeom prst="roundRect">
            <a:avLst/>
          </a:prstGeom>
          <a:solidFill>
            <a:srgbClr val="FCF2E9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87D23"/>
                </a:solidFill>
                <a:latin typeface="Aptos"/>
              </a:rPr>
              <a:t>Cars India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166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A6270"/>
                </a:solidFill>
                <a:latin typeface="Aptos"/>
              </a:rPr>
              <a:t>CSV format • 156 records • 24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D55"/>
                </a:solidFill>
                <a:latin typeface="Aptos"/>
              </a:rPr>
              <a:t>WHY DID WE SELECT THIS DATASET?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93008"/>
            <a:ext cx="55321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20">
                <a:solidFill>
                  <a:srgbClr val="1E232D"/>
                </a:solidFill>
                <a:latin typeface="Aptos"/>
              </a:defRPr>
            </a:pPr>
            <a:r>
              <a:t>• Directly related to the vehicle and fuel-efficiency project.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20">
                <a:solidFill>
                  <a:srgbClr val="1E232D"/>
                </a:solidFill>
                <a:latin typeface="Aptos"/>
              </a:defRPr>
            </a:pPr>
            <a:r>
              <a:t>• Contains vehicle, engine, fuel, efficiency and safety-related attributes.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20">
                <a:solidFill>
                  <a:srgbClr val="1E232D"/>
                </a:solidFill>
                <a:latin typeface="Aptos"/>
              </a:defRPr>
            </a:pPr>
            <a:r>
              <a:t>• Contains both numerical and categorical data.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20">
                <a:solidFill>
                  <a:srgbClr val="1E232D"/>
                </a:solidFill>
                <a:latin typeface="Aptos"/>
              </a:defRPr>
            </a:pPr>
            <a:r>
              <a:t>• Suitable for data cleaning, preprocessing, comparison and visualization.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20">
                <a:solidFill>
                  <a:srgbClr val="1E232D"/>
                </a:solidFill>
                <a:latin typeface="Aptos"/>
              </a:defRPr>
            </a:pPr>
            <a:r>
              <a:t>• Provides a practical basis for studying fuel-efficiency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2655" y="1394460"/>
            <a:ext cx="4989476" cy="448056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88430" y="1627632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2C5D9E"/>
                </a:solidFill>
                <a:latin typeface="Aptos"/>
              </a:rPr>
              <a:t>DATA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6990" y="2271787"/>
            <a:ext cx="857249" cy="640080"/>
          </a:xfrm>
          <a:prstGeom prst="roundRect">
            <a:avLst/>
          </a:prstGeom>
          <a:solidFill>
            <a:srgbClr val="2C5D9E"/>
          </a:solidFill>
          <a:ln w="127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96990" y="2525029"/>
            <a:ext cx="85724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CSV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290" y="2240280"/>
            <a:ext cx="182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7119" y="2271787"/>
            <a:ext cx="857249" cy="640080"/>
          </a:xfrm>
          <a:prstGeom prst="roundRect">
            <a:avLst/>
          </a:prstGeom>
          <a:solidFill>
            <a:srgbClr val="E87D23"/>
          </a:solidFill>
          <a:ln w="12700"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7119" y="2517335"/>
            <a:ext cx="85724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7420" y="2240280"/>
            <a:ext cx="182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7250" y="2271787"/>
            <a:ext cx="857249" cy="640080"/>
          </a:xfrm>
          <a:prstGeom prst="roundRect">
            <a:avLst/>
          </a:prstGeom>
          <a:solidFill>
            <a:srgbClr val="2D875F"/>
          </a:solidFill>
          <a:ln w="12700">
            <a:solidFill>
              <a:srgbClr val="2D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77250" y="2517335"/>
            <a:ext cx="85724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550" y="2240280"/>
            <a:ext cx="182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7380" y="2271787"/>
            <a:ext cx="857249" cy="640080"/>
          </a:xfrm>
          <a:prstGeom prst="roundRect">
            <a:avLst/>
          </a:prstGeom>
          <a:solidFill>
            <a:srgbClr val="142D55"/>
          </a:solidFill>
          <a:ln w="12700"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7380" y="2525029"/>
            <a:ext cx="85724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337560"/>
            <a:ext cx="3886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E232D"/>
                </a:solidFill>
                <a:latin typeface="Aptos"/>
              </a:rPr>
              <a:t>The supplied Cars India CSV is loaded into a Pandas DataFrame for inspection, cleaning and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4617720"/>
            <a:ext cx="1581912" cy="96012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96328" y="475488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C5D9E"/>
                </a:solidFill>
                <a:latin typeface="Aptos"/>
              </a:rPr>
              <a:t>156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2395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D55"/>
                </a:solidFill>
                <a:latin typeface="Aptos"/>
              </a:rPr>
              <a:t>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617720"/>
            <a:ext cx="1691640" cy="96012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0848" y="475488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87D23"/>
                </a:solidFill>
                <a:latin typeface="Aptos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2395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D55"/>
                </a:solidFill>
                <a:latin typeface="Aptos"/>
              </a:rPr>
              <a:t>columns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35640" y="4652010"/>
            <a:ext cx="960120" cy="96012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56850" y="4822677"/>
            <a:ext cx="850393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500" b="1" dirty="0">
                <a:solidFill>
                  <a:srgbClr val="2D875F"/>
                </a:solidFill>
                <a:latin typeface="Aptos"/>
              </a:rPr>
              <a:t>CSV</a:t>
            </a:r>
            <a:endParaRPr sz="2500" b="1" dirty="0">
              <a:solidFill>
                <a:srgbClr val="2D875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27080" y="52395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 err="1">
                <a:solidFill>
                  <a:srgbClr val="142D55"/>
                </a:solidFill>
                <a:latin typeface="Aptos"/>
              </a:rPr>
              <a:t>fo</a:t>
            </a:r>
            <a:r>
              <a:rPr lang="en-IN" sz="1150" b="1" dirty="0">
                <a:solidFill>
                  <a:srgbClr val="142D55"/>
                </a:solidFill>
                <a:latin typeface="Aptos"/>
              </a:rPr>
              <a:t>rm</a:t>
            </a:r>
            <a:r>
              <a:rPr sz="1150" b="1" dirty="0">
                <a:solidFill>
                  <a:srgbClr val="142D55"/>
                </a:solidFill>
                <a:latin typeface="Aptos"/>
              </a:rPr>
              <a:t>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999" cy="72702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7D23"/>
          </a:solidFill>
          <a:ln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47020" y="454543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DATASET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416" y="604781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5A6270"/>
                </a:solidFill>
                <a:latin typeface="Aptos"/>
              </a:rPr>
              <a:t>Cars India Dataset — attributes and their meaning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19175" y="1441012"/>
            <a:ext cx="1828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7775" y="1666763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142D55"/>
                </a:solidFill>
                <a:latin typeface="Aptos"/>
              </a:rP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3575" y="1666763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42D55"/>
                </a:solidFill>
                <a:latin typeface="Aptos"/>
              </a:rP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4895" y="2542032"/>
            <a:ext cx="1828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10615" y="276149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E87D23"/>
                </a:solidFill>
                <a:latin typeface="Aptos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6415" y="274777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42D55"/>
                </a:solidFill>
                <a:latin typeface="Aptos"/>
              </a:rPr>
              <a:t>Columns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40401"/>
              </p:ext>
            </p:extLst>
          </p:nvPr>
        </p:nvGraphicFramePr>
        <p:xfrm>
          <a:off x="1485653" y="888933"/>
          <a:ext cx="7610562" cy="574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82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42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Car model 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Maker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Vehicle manufacturer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Vehicle/body 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rPr dirty="0"/>
                        <a:t>Seats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Number of seats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Displacement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Engine displacement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Length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Vehicle length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Width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Vehicle width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4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Height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Vehicle height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Wheelbase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Distance between front and rear axles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No_of_Cylinders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Number of engine cylinders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Fuel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Fuel 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Engine Type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Type of engine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Transmission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Transmission 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rPr dirty="0"/>
                        <a:t>Front Brake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Front braking system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Rear Brake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Rear braking system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Drive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Drive configuration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Turning Radius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Minimum turning radius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Fuel Tank Capacity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Fuel tank capacity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Boot Space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Boot/luggage capacity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Fuel Efficiency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Fuel efficiency / mileage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Emission 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Emission standard/type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Tyre Size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Tyre specification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23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Variants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Number of variants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690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42D55"/>
                          </a:solidFill>
                          <a:latin typeface="Aptos"/>
                        </a:defRPr>
                      </a:pPr>
                      <a:r>
                        <a:t>NCAP Rating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D"/>
                          </a:solidFill>
                          <a:latin typeface="Aptos"/>
                        </a:defRPr>
                      </a:pPr>
                      <a:r>
                        <a:rPr dirty="0"/>
                        <a:t>NCAP safety rating</a:t>
                      </a:r>
                    </a:p>
                  </a:txBody>
                  <a:tcPr marL="73152" marR="7315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53166" y="7059372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A6270"/>
                </a:solidFill>
                <a:latin typeface="Aptos"/>
              </a:rPr>
              <a:t>Dataset structure: 156 records × 24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1574" y="6644245"/>
            <a:ext cx="5166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 dirty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ECBF9427-1880-F86C-FE26-8FEEA6ADF355}"/>
              </a:ext>
            </a:extLst>
          </p:cNvPr>
          <p:cNvSpPr/>
          <p:nvPr/>
        </p:nvSpPr>
        <p:spPr>
          <a:xfrm>
            <a:off x="0" y="169801"/>
            <a:ext cx="1484671" cy="756298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8283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DATASET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4276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0736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5D9E"/>
                </a:solidFill>
                <a:latin typeface="Aptos"/>
              </a:rPr>
              <a:t>VEHICLE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0969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E232D"/>
                </a:solidFill>
                <a:latin typeface="Aptos"/>
              </a:rPr>
              <a:t>Model
Maker
Type
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4276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190736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D23"/>
                </a:solidFill>
                <a:latin typeface="Aptos"/>
              </a:rPr>
              <a:t>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30969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32D"/>
                </a:solidFill>
                <a:latin typeface="Aptos"/>
              </a:rPr>
              <a:t>Displacement
No. of Cylinders
Engine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74276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190736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875F"/>
                </a:solidFill>
                <a:latin typeface="Aptos"/>
              </a:rPr>
              <a:t>FUEL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30969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32D"/>
                </a:solidFill>
                <a:latin typeface="Aptos"/>
              </a:rPr>
              <a:t>Fuel
Fuel Tank Capacity
Fuel Efficiency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732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0192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Aptos"/>
              </a:rPr>
              <a:t>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50425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32D"/>
                </a:solidFill>
                <a:latin typeface="Aptos"/>
              </a:rPr>
              <a:t>Length • Width • Height
Wheelbase
Turning Radius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93732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410192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5D9E"/>
                </a:solidFill>
                <a:latin typeface="Aptos"/>
              </a:rPr>
              <a:t>TRANSMISSION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450425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32D"/>
                </a:solidFill>
                <a:latin typeface="Aptos"/>
              </a:rPr>
              <a:t>Transmission
Front Brake • Rear Brake
Drive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937328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4101920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D23"/>
                </a:solidFill>
                <a:latin typeface="Aptos"/>
              </a:rPr>
              <a:t>SAFETY &amp; 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4504256"/>
            <a:ext cx="2724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32D"/>
                </a:solidFill>
                <a:latin typeface="Aptos"/>
              </a:rPr>
              <a:t>Emission Type
Tyre Size
NCAP Rating •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DATA COLLECTION &amp;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D55"/>
                </a:solidFill>
                <a:latin typeface="Aptos"/>
              </a:rPr>
              <a:t>DATA COLLECTION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548890" cy="731520"/>
          </a:xfrm>
          <a:prstGeom prst="roundRect">
            <a:avLst/>
          </a:prstGeom>
          <a:solidFill>
            <a:srgbClr val="2C5D9E"/>
          </a:solidFill>
          <a:ln w="127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254889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8970" y="1664208"/>
            <a:ext cx="182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1850" y="1645920"/>
            <a:ext cx="2548890" cy="731520"/>
          </a:xfrm>
          <a:prstGeom prst="roundRect">
            <a:avLst/>
          </a:prstGeom>
          <a:solidFill>
            <a:srgbClr val="E87D23"/>
          </a:solidFill>
          <a:ln w="12700"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1850" y="1801368"/>
            <a:ext cx="254889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CSV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1664208"/>
            <a:ext cx="182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3620" y="1645920"/>
            <a:ext cx="2548890" cy="731520"/>
          </a:xfrm>
          <a:prstGeom prst="roundRect">
            <a:avLst/>
          </a:prstGeom>
          <a:solidFill>
            <a:srgbClr val="2D875F"/>
          </a:solidFill>
          <a:ln w="12700">
            <a:solidFill>
              <a:srgbClr val="2D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3620" y="1801368"/>
            <a:ext cx="254889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2510" y="1664208"/>
            <a:ext cx="182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5390" y="1645920"/>
            <a:ext cx="2548890" cy="731520"/>
          </a:xfrm>
          <a:prstGeom prst="roundRect">
            <a:avLst/>
          </a:prstGeom>
          <a:solidFill>
            <a:srgbClr val="142D55"/>
          </a:solidFill>
          <a:ln w="12700"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5390" y="1801368"/>
            <a:ext cx="254889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Pandas 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D55"/>
                </a:solidFill>
                <a:latin typeface="Aptos"/>
              </a:rPr>
              <a:t>DATA IMPORT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5532120" cy="2057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74720"/>
            <a:ext cx="50749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42D55"/>
                </a:solidFill>
                <a:latin typeface="Consolas"/>
              </a:rPr>
              <a:t>import pandas as pd
df = pd.read_csv("Cars India Dataset.csv")
df.head()
df.shape
df.info()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246120"/>
            <a:ext cx="4709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3246120"/>
            <a:ext cx="73152" cy="960120"/>
          </a:xfrm>
          <a:prstGeom prst="rect">
            <a:avLst/>
          </a:prstGeom>
          <a:solidFill>
            <a:srgbClr val="2C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3410712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D55"/>
                </a:solidFill>
                <a:latin typeface="Aptos"/>
              </a:rPr>
              <a:t>INITIAL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813048"/>
            <a:ext cx="436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D"/>
                </a:solidFill>
                <a:latin typeface="Aptos"/>
              </a:rPr>
              <a:t>Inspect the first rows using df.head().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389120"/>
            <a:ext cx="4709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29400" y="4389120"/>
            <a:ext cx="73152" cy="96012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0568" y="4553712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D55"/>
                </a:solidFill>
                <a:latin typeface="Aptos"/>
              </a:rPr>
              <a:t>DATASET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956048"/>
            <a:ext cx="436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32D"/>
                </a:solidFill>
                <a:latin typeface="Aptos"/>
              </a:rPr>
              <a:t>df.shape confirms 156 rows and 24 columns.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2552" y="5532120"/>
            <a:ext cx="463600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29400" y="5532120"/>
            <a:ext cx="73152" cy="73152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0568" y="5696712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D55"/>
                </a:solidFill>
                <a:latin typeface="Aptos"/>
              </a:rPr>
              <a:t>DATA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6099048"/>
            <a:ext cx="4361688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32D"/>
                </a:solidFill>
                <a:latin typeface="Aptos"/>
              </a:rPr>
              <a:t>df.info() identifies numeric and categorical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144" y="69268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4132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270"/>
                </a:solidFill>
                <a:latin typeface="Aptos"/>
              </a:rPr>
              <a:t>Preparing vehicle data for reliable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7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783079"/>
            <a:ext cx="594360" cy="594360"/>
          </a:xfrm>
          <a:prstGeom prst="ellipse">
            <a:avLst/>
          </a:prstGeom>
          <a:solidFill>
            <a:srgbClr val="2C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83079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42D55"/>
                </a:solidFill>
                <a:latin typeface="Aptos"/>
              </a:rPr>
              <a:t>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94559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32D"/>
                </a:solidFill>
                <a:latin typeface="Aptos"/>
              </a:rPr>
              <a:t>62 missing cells were identified across 8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72767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60" y="1783079"/>
            <a:ext cx="594360" cy="594360"/>
          </a:xfrm>
          <a:prstGeom prst="ellipse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783079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42D55"/>
                </a:solidFill>
                <a:latin typeface="Aptos"/>
              </a:rPr>
              <a:t>DUPLICATE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94559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32D"/>
                </a:solidFill>
                <a:latin typeface="Aptos"/>
              </a:rPr>
              <a:t>0 duplicate rows were found in the supplied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93007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3703319"/>
            <a:ext cx="594360" cy="594360"/>
          </a:xfrm>
          <a:prstGeom prst="ellipse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794759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03319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42D55"/>
                </a:solidFill>
                <a:latin typeface="Aptos"/>
              </a:rPr>
              <a:t>DATA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14798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32D"/>
                </a:solidFill>
                <a:latin typeface="Aptos"/>
              </a:rPr>
              <a:t>Separate numerical and categorical attributes for appropriate preprocessing.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93007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9360" y="3703319"/>
            <a:ext cx="594360" cy="59436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59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03319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42D55"/>
                </a:solidFill>
                <a:latin typeface="Aptos"/>
              </a:rPr>
              <a:t>OUTLIERS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114798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32D"/>
                </a:solidFill>
                <a:latin typeface="Aptos"/>
              </a:rPr>
              <a:t>Inspect numerical columns such as displacement, dimensions and fuel efficiency before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D55"/>
                </a:solidFill>
                <a:latin typeface="Aptos"/>
              </a:rPr>
              <a:t>PREPROCESSING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2002536" cy="566928"/>
          </a:xfrm>
          <a:prstGeom prst="roundRect">
            <a:avLst/>
          </a:prstGeom>
          <a:solidFill>
            <a:srgbClr val="2C5D9E"/>
          </a:solidFill>
          <a:ln w="127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87568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RAW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2615" y="5550407"/>
            <a:ext cx="182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25496" y="5532120"/>
            <a:ext cx="2002536" cy="566928"/>
          </a:xfrm>
          <a:prstGeom prst="roundRect">
            <a:avLst/>
          </a:prstGeom>
          <a:solidFill>
            <a:srgbClr val="E87D23"/>
          </a:solidFill>
          <a:ln w="12700"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25496" y="5687568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1" y="5550407"/>
            <a:ext cx="182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2" y="5532120"/>
            <a:ext cx="2002536" cy="566928"/>
          </a:xfrm>
          <a:prstGeom prst="roundRect">
            <a:avLst/>
          </a:prstGeom>
          <a:solidFill>
            <a:srgbClr val="2D875F"/>
          </a:solidFill>
          <a:ln w="12700">
            <a:solidFill>
              <a:srgbClr val="2D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687568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5550407"/>
            <a:ext cx="182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96328" y="5532120"/>
            <a:ext cx="2002536" cy="566928"/>
          </a:xfrm>
          <a:prstGeom prst="roundRect">
            <a:avLst/>
          </a:prstGeom>
          <a:solidFill>
            <a:srgbClr val="142D55"/>
          </a:solidFill>
          <a:ln w="12700"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96328" y="5687568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5550407"/>
            <a:ext cx="182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81744" y="5532120"/>
            <a:ext cx="2002536" cy="566928"/>
          </a:xfrm>
          <a:prstGeom prst="roundRect">
            <a:avLst/>
          </a:prstGeom>
          <a:solidFill>
            <a:srgbClr val="2C5D9E"/>
          </a:solidFill>
          <a:ln w="127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81744" y="5687568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E87D23"/>
          </a:solidFill>
          <a:ln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42D55"/>
                </a:solidFill>
                <a:latin typeface="Aptos"/>
              </a:rPr>
              <a:t>INITIAL DATA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98728"/>
            <a:ext cx="4846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42D55"/>
                </a:solidFill>
                <a:latin typeface="Aptos"/>
              </a:rPr>
              <a:t>DATASET READING &amp; INITIAL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19" y="876851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42D55"/>
                </a:solidFill>
                <a:latin typeface="Aptos"/>
              </a:rPr>
              <a:t>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932" y="5909336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dirty="0">
                <a:solidFill>
                  <a:srgbClr val="E87D23"/>
                </a:solidFill>
                <a:latin typeface="Aptos"/>
              </a:rPr>
              <a:t>KEY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341" y="5868188"/>
            <a:ext cx="4892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dirty="0">
                <a:solidFill>
                  <a:srgbClr val="142D55"/>
                </a:solidFill>
                <a:latin typeface="Aptos"/>
              </a:rPr>
              <a:t>156 records • 24 columns • 62 missing cells • 0 duplicate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5870448"/>
            <a:ext cx="4069080" cy="475488"/>
          </a:xfrm>
          <a:prstGeom prst="roundRect">
            <a:avLst/>
          </a:prstGeom>
          <a:solidFill>
            <a:srgbClr val="F5F7FA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42390" y="5921530"/>
            <a:ext cx="3794760" cy="4060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 dirty="0">
                <a:solidFill>
                  <a:srgbClr val="1E232D"/>
                </a:solidFill>
                <a:latin typeface="Aptos"/>
              </a:rPr>
              <a:t>Main missing-value concentrations: Fuel Efficiency, Turning Radius and Boot Space.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0">
                <a:solidFill>
                  <a:srgbClr val="646973"/>
                </a:solidFill>
                <a:latin typeface="Aptos"/>
              </a:rPr>
              <a:t>ADITYA UNIVERSITY  •  DATA ANALYSIS ESSENTIALS – PROJECT REVIEW 1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DBF51B-440A-481A-FB3E-BB989239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45" y="1483167"/>
            <a:ext cx="1774581" cy="40691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345FA51-7A5E-489B-FD95-4A77D475E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747" y="1746398"/>
            <a:ext cx="2010047" cy="3438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8089C-9F74-A8A1-A337-0B11065F4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1" y="953364"/>
            <a:ext cx="1378372" cy="450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6739EB-225C-AC99-73F8-AC18CEAB3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74" y="1353206"/>
            <a:ext cx="4928446" cy="25835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922A3B-310F-B14D-BE1A-74982C7C7D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74" y="3945086"/>
            <a:ext cx="4892040" cy="3800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54EB79-B694-D6A7-4631-46DEB71FB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331304"/>
            <a:ext cx="2866757" cy="5022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BE7DD7-1D70-3FD1-B3CE-75FA9DE26F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287" y="4845906"/>
            <a:ext cx="4301986" cy="823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F0CFCC-941D-1D00-70E5-46F691675D4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A45F6-DD46-6B35-78EC-299F5818B33A}"/>
              </a:ext>
            </a:extLst>
          </p:cNvPr>
          <p:cNvSpPr txBox="1"/>
          <p:nvPr/>
        </p:nvSpPr>
        <p:spPr>
          <a:xfrm>
            <a:off x="518160" y="697883"/>
            <a:ext cx="111556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F2937"/>
                </a:solidFill>
                <a:latin typeface="Aptos"/>
              </a:rPr>
              <a:t>MISSING VALUE TREATMENT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38DCD-8762-EF98-A934-184CC9B64E15}"/>
              </a:ext>
            </a:extLst>
          </p:cNvPr>
          <p:cNvSpPr txBox="1"/>
          <p:nvPr/>
        </p:nvSpPr>
        <p:spPr>
          <a:xfrm>
            <a:off x="7167716" y="1088136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67085"/>
                </a:solidFill>
                <a:latin typeface="Aptos"/>
              </a:rPr>
              <a:t>Handling missing data without changing the original notebook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2193F-1EAA-14B4-4521-4C0309253D75}"/>
              </a:ext>
            </a:extLst>
          </p:cNvPr>
          <p:cNvSpPr txBox="1"/>
          <p:nvPr/>
        </p:nvSpPr>
        <p:spPr>
          <a:xfrm>
            <a:off x="6583680" y="6473952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35D5E0-1CA5-F7AF-6F5E-1BE03BD695D9}"/>
              </a:ext>
            </a:extLst>
          </p:cNvPr>
          <p:cNvSpPr/>
          <p:nvPr/>
        </p:nvSpPr>
        <p:spPr>
          <a:xfrm>
            <a:off x="518160" y="1417320"/>
            <a:ext cx="5532120" cy="4983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68E0FE-B752-C094-70C1-6A2847AA3AC6}"/>
              </a:ext>
            </a:extLst>
          </p:cNvPr>
          <p:cNvSpPr/>
          <p:nvPr/>
        </p:nvSpPr>
        <p:spPr>
          <a:xfrm>
            <a:off x="6214872" y="1417320"/>
            <a:ext cx="5468112" cy="4983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9104E2-3F42-58C0-497D-3F4A11671043}"/>
              </a:ext>
            </a:extLst>
          </p:cNvPr>
          <p:cNvSpPr txBox="1"/>
          <p:nvPr/>
        </p:nvSpPr>
        <p:spPr>
          <a:xfrm>
            <a:off x="792480" y="1673352"/>
            <a:ext cx="475488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MISSING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182A21-4ABE-F924-FEB9-22655B436DF3}"/>
              </a:ext>
            </a:extLst>
          </p:cNvPr>
          <p:cNvSpPr txBox="1"/>
          <p:nvPr/>
        </p:nvSpPr>
        <p:spPr>
          <a:xfrm>
            <a:off x="792480" y="2039112"/>
            <a:ext cx="47548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75467"/>
                </a:solidFill>
                <a:latin typeface="Aptos"/>
              </a:rPr>
              <a:t>Numerical columns → median
Categorical columns → mode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C8F32F72-89EF-7FA3-AC34-DE75B051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697480"/>
            <a:ext cx="4983480" cy="221411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3924F24-D1D1-44B1-CDAD-E6E8896D7C24}"/>
              </a:ext>
            </a:extLst>
          </p:cNvPr>
          <p:cNvSpPr txBox="1"/>
          <p:nvPr/>
        </p:nvSpPr>
        <p:spPr>
          <a:xfrm>
            <a:off x="792480" y="5916168"/>
            <a:ext cx="49377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C7E1F"/>
                </a:solidFill>
                <a:latin typeface="Aptos"/>
              </a:rPr>
              <a:t>Result after treatment: missing values =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654E19-5D3C-1DB3-DC5A-B229FA205E62}"/>
              </a:ext>
            </a:extLst>
          </p:cNvPr>
          <p:cNvSpPr txBox="1"/>
          <p:nvPr/>
        </p:nvSpPr>
        <p:spPr>
          <a:xfrm>
            <a:off x="6489192" y="1673352"/>
            <a:ext cx="46634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DUPLICATE CHECK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C9B1DD-7CBA-F4E3-F0FB-1F952D4F26F9}"/>
              </a:ext>
            </a:extLst>
          </p:cNvPr>
          <p:cNvSpPr txBox="1"/>
          <p:nvPr/>
        </p:nvSpPr>
        <p:spPr>
          <a:xfrm>
            <a:off x="6489192" y="2039112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467"/>
                </a:solidFill>
                <a:latin typeface="Aptos"/>
              </a:rPr>
              <a:t>Check duplicate rows before finalizing the cleaned dataset.</a:t>
            </a: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CDC8FC3B-A488-A8E7-D7F0-5C61C98CE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92" y="2697480"/>
            <a:ext cx="4800600" cy="1993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132CD8B-64F5-F738-D2BB-19F2C748151A}"/>
              </a:ext>
            </a:extLst>
          </p:cNvPr>
          <p:cNvSpPr txBox="1"/>
          <p:nvPr/>
        </p:nvSpPr>
        <p:spPr>
          <a:xfrm>
            <a:off x="6489192" y="5916168"/>
            <a:ext cx="475488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C7E1F"/>
                </a:solidFill>
                <a:latin typeface="Aptos"/>
              </a:rPr>
              <a:t>Result: 0 duplicate rows</a:t>
            </a:r>
          </a:p>
        </p:txBody>
      </p:sp>
    </p:spTree>
    <p:extLst>
      <p:ext uri="{BB962C8B-B14F-4D97-AF65-F5344CB8AC3E}">
        <p14:creationId xmlns:p14="http://schemas.microsoft.com/office/powerpoint/2010/main" val="2828552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619DE3-6E63-EFF0-4D43-BFEAC4DFAB17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6943B-2259-4881-FEBA-B7FB0AD5E8B9}"/>
              </a:ext>
            </a:extLst>
          </p:cNvPr>
          <p:cNvSpPr txBox="1"/>
          <p:nvPr/>
        </p:nvSpPr>
        <p:spPr>
          <a:xfrm>
            <a:off x="518007" y="724451"/>
            <a:ext cx="111556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F2937"/>
                </a:solidFill>
                <a:latin typeface="Aptos"/>
              </a:rPr>
              <a:t>CATEGORICAL DATA ENCODING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BF74E-2BBD-1A16-7887-924D796B5913}"/>
              </a:ext>
            </a:extLst>
          </p:cNvPr>
          <p:cNvSpPr txBox="1"/>
          <p:nvPr/>
        </p:nvSpPr>
        <p:spPr>
          <a:xfrm>
            <a:off x="594360" y="133241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67085"/>
                </a:solidFill>
                <a:latin typeface="Aptos"/>
              </a:rPr>
              <a:t>Converting categorical attributes into numerical features for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C45BA-B875-419A-87C3-7356A37B3940}"/>
              </a:ext>
            </a:extLst>
          </p:cNvPr>
          <p:cNvSpPr txBox="1"/>
          <p:nvPr/>
        </p:nvSpPr>
        <p:spPr>
          <a:xfrm>
            <a:off x="6583680" y="6473952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67085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A6BF6-5CE8-0CE5-8462-F733BF906FE6}"/>
              </a:ext>
            </a:extLst>
          </p:cNvPr>
          <p:cNvSpPr/>
          <p:nvPr/>
        </p:nvSpPr>
        <p:spPr>
          <a:xfrm>
            <a:off x="502920" y="1661652"/>
            <a:ext cx="11155680" cy="462027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A87D9-09E9-9B21-9C73-BCA3477E8AB5}"/>
              </a:ext>
            </a:extLst>
          </p:cNvPr>
          <p:cNvSpPr txBox="1"/>
          <p:nvPr/>
        </p:nvSpPr>
        <p:spPr>
          <a:xfrm>
            <a:off x="822960" y="1798695"/>
            <a:ext cx="49377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F2937"/>
                </a:solidFill>
                <a:latin typeface="Aptos"/>
              </a:rPr>
              <a:t>ENCODING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514067-97F3-ADF1-58B6-D155CC3F8BFD}"/>
              </a:ext>
            </a:extLst>
          </p:cNvPr>
          <p:cNvSpPr txBox="1"/>
          <p:nvPr/>
        </p:nvSpPr>
        <p:spPr>
          <a:xfrm>
            <a:off x="822960" y="2164455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467"/>
                </a:solidFill>
                <a:latin typeface="Aptos"/>
              </a:rPr>
              <a:t>The original code uses pd.get_dummies() to convert categorical values into numerical columns.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81124810-9A48-E1D7-2B59-213A6B45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85663"/>
            <a:ext cx="10515600" cy="26138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EB88F8-B64E-3796-DB61-50626D25D850}"/>
              </a:ext>
            </a:extLst>
          </p:cNvPr>
          <p:cNvSpPr txBox="1"/>
          <p:nvPr/>
        </p:nvSpPr>
        <p:spPr>
          <a:xfrm>
            <a:off x="822960" y="5742432"/>
            <a:ext cx="1005840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C7E1F"/>
                </a:solidFill>
                <a:latin typeface="Aptos"/>
              </a:rPr>
              <a:t>Original notebook encoding output shown; final analysis focuses on the 9 selected attributes.</a:t>
            </a:r>
          </a:p>
        </p:txBody>
      </p:sp>
    </p:spTree>
    <p:extLst>
      <p:ext uri="{BB962C8B-B14F-4D97-AF65-F5344CB8AC3E}">
        <p14:creationId xmlns:p14="http://schemas.microsoft.com/office/powerpoint/2010/main" val="229518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E9E73D-4261-6750-C976-A5D0C4E95FB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BDBA9-BAFE-52C5-0457-E2D702EDAE34}"/>
              </a:ext>
            </a:extLst>
          </p:cNvPr>
          <p:cNvSpPr txBox="1"/>
          <p:nvPr/>
        </p:nvSpPr>
        <p:spPr>
          <a:xfrm>
            <a:off x="548640" y="720699"/>
            <a:ext cx="111556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F2937"/>
                </a:solidFill>
                <a:latin typeface="Aptos"/>
              </a:rPr>
              <a:t>OUTLIER HANDLING &amp; FINAL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DA82B-D768-C42C-D256-96EF21619188}"/>
              </a:ext>
            </a:extLst>
          </p:cNvPr>
          <p:cNvSpPr txBox="1"/>
          <p:nvPr/>
        </p:nvSpPr>
        <p:spPr>
          <a:xfrm>
            <a:off x="868680" y="128923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67085"/>
                </a:solidFill>
                <a:latin typeface="Aptos"/>
              </a:rPr>
              <a:t>Checking numerical values and validating the cleaned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9F193-C076-B2B3-0FA6-4DC07F55B0F3}"/>
              </a:ext>
            </a:extLst>
          </p:cNvPr>
          <p:cNvSpPr txBox="1"/>
          <p:nvPr/>
        </p:nvSpPr>
        <p:spPr>
          <a:xfrm>
            <a:off x="6583680" y="6473952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667085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CBDB58-83D2-FA26-8E40-4459C5059031}"/>
              </a:ext>
            </a:extLst>
          </p:cNvPr>
          <p:cNvSpPr/>
          <p:nvPr/>
        </p:nvSpPr>
        <p:spPr>
          <a:xfrm>
            <a:off x="868680" y="1764792"/>
            <a:ext cx="6309360" cy="451713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3B3E5-9433-D6C4-12ED-340885F4FF48}"/>
              </a:ext>
            </a:extLst>
          </p:cNvPr>
          <p:cNvSpPr/>
          <p:nvPr/>
        </p:nvSpPr>
        <p:spPr>
          <a:xfrm>
            <a:off x="7596408" y="1764792"/>
            <a:ext cx="4062191" cy="451713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886F28-3842-2C3D-75BB-73DD009FC4F7}"/>
              </a:ext>
            </a:extLst>
          </p:cNvPr>
          <p:cNvSpPr txBox="1"/>
          <p:nvPr/>
        </p:nvSpPr>
        <p:spPr>
          <a:xfrm>
            <a:off x="1146132" y="1853258"/>
            <a:ext cx="5012916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F2937"/>
                </a:solidFill>
                <a:latin typeface="Aptos"/>
              </a:rPr>
              <a:t>OUTLIER CHECK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0F9DF-06D7-DA73-0EC8-D6A0B3A22EB7}"/>
              </a:ext>
            </a:extLst>
          </p:cNvPr>
          <p:cNvSpPr txBox="1"/>
          <p:nvPr/>
        </p:nvSpPr>
        <p:spPr>
          <a:xfrm>
            <a:off x="1133604" y="2130835"/>
            <a:ext cx="535863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75467"/>
                </a:solidFill>
                <a:latin typeface="Aptos"/>
              </a:rPr>
              <a:t>The original code applies the IQR rule to numerical columns.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0FF65C9C-38C8-4426-6D03-E63E915B0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32" y="2523828"/>
            <a:ext cx="5574708" cy="33138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3FA85C6-395F-BF31-8488-A16156391F66}"/>
              </a:ext>
            </a:extLst>
          </p:cNvPr>
          <p:cNvSpPr txBox="1"/>
          <p:nvPr/>
        </p:nvSpPr>
        <p:spPr>
          <a:xfrm>
            <a:off x="1189346" y="5895572"/>
            <a:ext cx="5531494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C7E1F"/>
                </a:solidFill>
                <a:latin typeface="Aptos"/>
              </a:rPr>
              <a:t>Q1 / Q3 → IQR → lower &amp; upper bounds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23705-DDED-70FF-72C3-FF4E59D0CD7C}"/>
              </a:ext>
            </a:extLst>
          </p:cNvPr>
          <p:cNvSpPr txBox="1"/>
          <p:nvPr/>
        </p:nvSpPr>
        <p:spPr>
          <a:xfrm>
            <a:off x="7815614" y="2030229"/>
            <a:ext cx="3284324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F2937"/>
                </a:solidFill>
                <a:latin typeface="Aptos"/>
              </a:rPr>
              <a:t>FINAL DATA CHECK</a:t>
            </a: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A1DDFC99-80FA-1F7E-A4F4-12A5D213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520" y="2423222"/>
            <a:ext cx="3841687" cy="25488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8F668F9-A1E0-D8E5-DE9C-2B91FC02E5AB}"/>
              </a:ext>
            </a:extLst>
          </p:cNvPr>
          <p:cNvSpPr txBox="1"/>
          <p:nvPr/>
        </p:nvSpPr>
        <p:spPr>
          <a:xfrm>
            <a:off x="7728520" y="5164130"/>
            <a:ext cx="302503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F2937"/>
                </a:solidFill>
                <a:latin typeface="Aptos"/>
              </a:rPr>
              <a:t>Notebook result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10944E-BE02-73CE-E09C-909BBE187863}"/>
              </a:ext>
            </a:extLst>
          </p:cNvPr>
          <p:cNvSpPr txBox="1"/>
          <p:nvPr/>
        </p:nvSpPr>
        <p:spPr>
          <a:xfrm>
            <a:off x="7733530" y="5419856"/>
            <a:ext cx="3111465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475467"/>
                </a:solidFill>
                <a:latin typeface="Aptos"/>
              </a:rPr>
              <a:t>93 rows × 24 columns
0 missing values
0 duplicate rows</a:t>
            </a:r>
          </a:p>
        </p:txBody>
      </p:sp>
    </p:spTree>
    <p:extLst>
      <p:ext uri="{BB962C8B-B14F-4D97-AF65-F5344CB8AC3E}">
        <p14:creationId xmlns:p14="http://schemas.microsoft.com/office/powerpoint/2010/main" val="43896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E8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5199" y="766425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D55"/>
                </a:solidFill>
                <a:latin typeface="Aptos"/>
              </a:rPr>
              <a:t>WHAT WE WILL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270"/>
                </a:solidFill>
                <a:latin typeface="Aptos"/>
              </a:rPr>
              <a:t>ADITYA UNIVERSITY  •  DATA ANALYSIS ESSENTIALS – 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510" y="1450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42D55"/>
                </a:solidFill>
                <a:latin typeface="Aptos"/>
              </a:rPr>
              <a:t>OUR NEXT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526030" cy="960120"/>
          </a:xfrm>
          <a:prstGeom prst="roundRect">
            <a:avLst/>
          </a:prstGeom>
          <a:solidFill>
            <a:srgbClr val="2C5D9E"/>
          </a:solidFill>
          <a:ln w="12700">
            <a:solidFill>
              <a:srgbClr val="2C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252603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3270" y="1984248"/>
            <a:ext cx="182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1965960"/>
            <a:ext cx="2526030" cy="960120"/>
          </a:xfrm>
          <a:prstGeom prst="roundRect">
            <a:avLst/>
          </a:prstGeom>
          <a:solidFill>
            <a:srgbClr val="E87D23"/>
          </a:solidFill>
          <a:ln w="12700">
            <a:solidFill>
              <a:srgbClr val="E8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6150" y="2121408"/>
            <a:ext cx="252603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2180" y="1984248"/>
            <a:ext cx="182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1965960"/>
            <a:ext cx="2526030" cy="960120"/>
          </a:xfrm>
          <a:prstGeom prst="roundRect">
            <a:avLst/>
          </a:prstGeom>
          <a:solidFill>
            <a:srgbClr val="2D875F"/>
          </a:solidFill>
          <a:ln w="12700">
            <a:solidFill>
              <a:srgbClr val="2D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5060" y="2121408"/>
            <a:ext cx="252603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1090" y="1984248"/>
            <a:ext cx="182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D8E1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970" y="1965960"/>
            <a:ext cx="2526030" cy="960120"/>
          </a:xfrm>
          <a:prstGeom prst="roundRect">
            <a:avLst/>
          </a:prstGeom>
          <a:solidFill>
            <a:srgbClr val="142D55"/>
          </a:solidFill>
          <a:ln w="12700"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3970" y="2121408"/>
            <a:ext cx="252603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900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C5D9E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050791"/>
            <a:ext cx="2011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1E232D"/>
                </a:solidFill>
                <a:latin typeface="Aptos"/>
              </a:rPr>
              <a:t>Handle missing values, validate data types and prepare analysis-ready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42900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6118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D23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4050791"/>
            <a:ext cx="2011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1E232D"/>
                </a:solidFill>
                <a:latin typeface="Aptos"/>
              </a:rPr>
              <a:t>Study fuel types, fuel efficiency and relationships with vehicle characteristics.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42900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6118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D875F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050791"/>
            <a:ext cx="2011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1E232D"/>
                </a:solidFill>
                <a:latin typeface="Aptos"/>
              </a:rPr>
              <a:t>Create bar charts, line charts, comparisons and other meaningful plots.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42900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36118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D55"/>
                </a:solidFill>
                <a:latin typeface="Aptos"/>
              </a:rPr>
              <a:t>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4050791"/>
            <a:ext cx="2011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1E232D"/>
                </a:solidFill>
                <a:latin typeface="Aptos"/>
              </a:rPr>
              <a:t>Identify useful fuel-efficiency patterns and summarize the findings.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77840"/>
            <a:ext cx="8549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D55"/>
                </a:solidFill>
                <a:latin typeface="Aptos"/>
              </a:rPr>
              <a:t>Final Goal: Meaningful vehicle fuel-efficiency analysis based on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42D55"/>
                </a:solidFill>
                <a:latin typeface="Aptos"/>
              </a:rPr>
              <a:t>VEHICLE FUEL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74519"/>
            <a:ext cx="8549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87D23"/>
                </a:solidFill>
                <a:latin typeface="Aptos"/>
              </a:rPr>
              <a:t>Data-driven analysis of vehicle fuel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0"/>
            <a:ext cx="6355080" cy="132588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54680" y="3154680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D55"/>
                </a:solidFill>
                <a:latin typeface="Aptos"/>
              </a:rPr>
              <a:t>PREPARE  →  ANALYZE  →  VISUALIZE  → 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09160"/>
            <a:ext cx="6720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E87D23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557784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Aptos"/>
              </a:rPr>
              <a:t>Team: Bala Tripura Sundari • Anusri • Gnaneswari • Hansika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5"/>
          </a:solidFill>
          <a:ln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_real_8257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42D55"/>
          </a:solidFill>
          <a:ln>
            <a:solidFill>
              <a:srgbClr val="14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143000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VEHICLE FUEL
ANALYSIS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1460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Data-driven analysis of vehicle fuel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749039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7D23"/>
                </a:solidFill>
                <a:latin typeface="Aptos"/>
              </a:rPr>
              <a:t>PREPARE  →  ANALYZE  →  VISUALIZE  → 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74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Bala Tripura Sundari • Anusri • Gnaneswari • Hansika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5A1E3-89EB-1B48-8891-32DD655A0CE6}"/>
              </a:ext>
            </a:extLst>
          </p:cNvPr>
          <p:cNvSpPr txBox="1"/>
          <p:nvPr/>
        </p:nvSpPr>
        <p:spPr>
          <a:xfrm>
            <a:off x="4927956" y="615882"/>
            <a:ext cx="260853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700" b="1" dirty="0">
                <a:latin typeface="Aptos" panose="020B0004020202020204" pitchFamily="34" charset="0"/>
              </a:rPr>
              <a:t>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9F961-1E52-231E-E85B-D82D9BE9294F}"/>
              </a:ext>
            </a:extLst>
          </p:cNvPr>
          <p:cNvSpPr txBox="1"/>
          <p:nvPr/>
        </p:nvSpPr>
        <p:spPr>
          <a:xfrm>
            <a:off x="539607" y="1197944"/>
            <a:ext cx="1111278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>
              <a:latin typeface="Aptos" panose="020B0004020202020204" pitchFamily="34" charset="0"/>
            </a:endParaRPr>
          </a:p>
          <a:p>
            <a:r>
              <a:rPr lang="en-IN" sz="1600" b="1" dirty="0">
                <a:latin typeface="Aptos" panose="020B0004020202020204" pitchFamily="34" charset="0"/>
              </a:rPr>
              <a:t>The cleaned Cars India dataset is analysed to identify fuel-efficiency patterns and compare vehicle performance.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b="1" dirty="0">
                <a:latin typeface="Aptos" panose="020B0004020202020204" pitchFamily="34" charset="0"/>
              </a:rPr>
              <a:t>Fuel Efficiency Analysis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 err="1">
                <a:latin typeface="Aptos" panose="020B0004020202020204" pitchFamily="34" charset="0"/>
              </a:rPr>
              <a:t>Analyze</a:t>
            </a:r>
            <a:r>
              <a:rPr lang="en-IN" sz="1600" dirty="0">
                <a:latin typeface="Aptos" panose="020B0004020202020204" pitchFamily="34" charset="0"/>
              </a:rPr>
              <a:t> and compare the </a:t>
            </a:r>
            <a:r>
              <a:rPr lang="en-IN" sz="1600" b="1" dirty="0">
                <a:latin typeface="Aptos" panose="020B0004020202020204" pitchFamily="34" charset="0"/>
              </a:rPr>
              <a:t>Fuel Efficiency</a:t>
            </a:r>
            <a:r>
              <a:rPr lang="en-IN" sz="1600" dirty="0">
                <a:latin typeface="Aptos" panose="020B0004020202020204" pitchFamily="34" charset="0"/>
              </a:rPr>
              <a:t> values of different vehicles to understand mileage variations.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/>
              <a:t>• </a:t>
            </a:r>
            <a:r>
              <a:rPr lang="en-IN" sz="1600" b="1" dirty="0">
                <a:latin typeface="Aptos" panose="020B0004020202020204" pitchFamily="34" charset="0"/>
              </a:rPr>
              <a:t>Manufacturer-wise Analysis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Group vehicles by </a:t>
            </a:r>
            <a:r>
              <a:rPr lang="en-IN" sz="1600" b="1" dirty="0">
                <a:latin typeface="Aptos" panose="020B0004020202020204" pitchFamily="34" charset="0"/>
              </a:rPr>
              <a:t>Maker</a:t>
            </a:r>
            <a:r>
              <a:rPr lang="en-IN" sz="1600" dirty="0">
                <a:latin typeface="Aptos" panose="020B0004020202020204" pitchFamily="34" charset="0"/>
              </a:rPr>
              <a:t> and compare their fuel efficiency to identify differences among manufacturers.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/>
              <a:t>• </a:t>
            </a:r>
            <a:r>
              <a:rPr lang="en-IN" sz="1600" b="1" dirty="0">
                <a:latin typeface="Aptos" panose="020B0004020202020204" pitchFamily="34" charset="0"/>
              </a:rPr>
              <a:t>Engine Size vs Mileage Analysis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Study the relationship between </a:t>
            </a:r>
            <a:r>
              <a:rPr lang="en-IN" sz="1600" b="1" dirty="0">
                <a:latin typeface="Aptos" panose="020B0004020202020204" pitchFamily="34" charset="0"/>
              </a:rPr>
              <a:t>Engine Displacement</a:t>
            </a:r>
            <a:r>
              <a:rPr lang="en-IN" sz="1600" dirty="0">
                <a:latin typeface="Aptos" panose="020B0004020202020204" pitchFamily="34" charset="0"/>
              </a:rPr>
              <a:t> and </a:t>
            </a:r>
            <a:r>
              <a:rPr lang="en-IN" sz="1600" b="1" dirty="0">
                <a:latin typeface="Aptos" panose="020B0004020202020204" pitchFamily="34" charset="0"/>
              </a:rPr>
              <a:t>Fuel Efficiency</a:t>
            </a:r>
            <a:r>
              <a:rPr lang="en-IN" sz="1600" dirty="0">
                <a:latin typeface="Aptos" panose="020B0004020202020204" pitchFamily="34" charset="0"/>
              </a:rPr>
              <a:t> to understand how engine size is associated with </a:t>
            </a:r>
          </a:p>
          <a:p>
            <a:r>
              <a:rPr lang="en-IN" sz="1600" dirty="0">
                <a:latin typeface="Aptos" panose="020B0004020202020204" pitchFamily="34" charset="0"/>
              </a:rPr>
              <a:t>mileage.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7B974-DCD0-24C9-A45F-2834296E3EFA}"/>
              </a:ext>
            </a:extLst>
          </p:cNvPr>
          <p:cNvSpPr txBox="1"/>
          <p:nvPr/>
        </p:nvSpPr>
        <p:spPr>
          <a:xfrm>
            <a:off x="535345" y="4983596"/>
            <a:ext cx="6354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MAIN ATTRIBUTES:</a:t>
            </a:r>
            <a:r>
              <a:rPr lang="en-IN" b="1" dirty="0"/>
              <a:t> </a:t>
            </a:r>
            <a:r>
              <a:rPr lang="en-IN" sz="1600" dirty="0">
                <a:latin typeface="Aptos" panose="020B0004020202020204" pitchFamily="34" charset="0"/>
              </a:rPr>
              <a:t>Maker, Displacement, Fuel, and Fuel Efficiency</a:t>
            </a:r>
            <a:r>
              <a:rPr lang="en-US" sz="1600" b="1" dirty="0"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834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B8DD52-135F-D5ED-7D64-3236E63C14CF}"/>
              </a:ext>
            </a:extLst>
          </p:cNvPr>
          <p:cNvSpPr txBox="1"/>
          <p:nvPr/>
        </p:nvSpPr>
        <p:spPr>
          <a:xfrm>
            <a:off x="2949787" y="656020"/>
            <a:ext cx="45744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700" b="1" dirty="0">
                <a:latin typeface="Aptos" panose="020B0004020202020204" pitchFamily="34" charset="0"/>
              </a:rPr>
              <a:t>CLEANED DATASET EXPORT </a:t>
            </a:r>
            <a:endParaRPr lang="en-US" sz="27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34C11-DF65-3E16-ACB4-1C8EA5526F06}"/>
              </a:ext>
            </a:extLst>
          </p:cNvPr>
          <p:cNvSpPr txBox="1"/>
          <p:nvPr/>
        </p:nvSpPr>
        <p:spPr>
          <a:xfrm>
            <a:off x="1422400" y="1371600"/>
            <a:ext cx="92619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1. Exporting Cleaned Data</a:t>
            </a:r>
          </a:p>
          <a:p>
            <a:r>
              <a:rPr lang="en-IN" dirty="0"/>
              <a:t>After completing preprocessing, the cleaned </a:t>
            </a:r>
            <a:r>
              <a:rPr lang="en-IN" dirty="0" err="1"/>
              <a:t>DataFrame</a:t>
            </a:r>
            <a:r>
              <a:rPr lang="en-IN" dirty="0"/>
              <a:t> is saved as a CSV file for further analysis.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827EA9-27B5-11B3-D63C-95740D1FA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10" y="2171700"/>
            <a:ext cx="9884719" cy="19283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9F17F0-2A69-8F57-5562-A1130D351EE2}"/>
              </a:ext>
            </a:extLst>
          </p:cNvPr>
          <p:cNvSpPr txBox="1"/>
          <p:nvPr/>
        </p:nvSpPr>
        <p:spPr>
          <a:xfrm>
            <a:off x="2300737" y="4284668"/>
            <a:ext cx="48941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Purpose: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Stores the cleaned dataset permanently.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index=False</a:t>
            </a:r>
            <a:r>
              <a:rPr lang="en-IN" dirty="0"/>
              <a:t> prevents the </a:t>
            </a:r>
            <a:r>
              <a:rPr lang="en-IN" dirty="0" err="1"/>
              <a:t>DataFrame</a:t>
            </a:r>
            <a:r>
              <a:rPr lang="en-IN" dirty="0"/>
              <a:t> index from being added as an extra column.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Creates the file </a:t>
            </a:r>
            <a:r>
              <a:rPr lang="en-IN" b="1" dirty="0" err="1">
                <a:latin typeface="+mn-lt"/>
              </a:rPr>
              <a:t>Cars_India_Cleaned.csv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682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B0337-2BC2-97DD-A265-395EE30C80DC}"/>
              </a:ext>
            </a:extLst>
          </p:cNvPr>
          <p:cNvSpPr txBox="1"/>
          <p:nvPr/>
        </p:nvSpPr>
        <p:spPr>
          <a:xfrm>
            <a:off x="3681351" y="617517"/>
            <a:ext cx="3515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>
                <a:latin typeface="Aptos" panose="020B0004020202020204" pitchFamily="34" charset="0"/>
              </a:rPr>
              <a:t>CLEANED DATASET READING</a:t>
            </a:r>
            <a:endParaRPr lang="en-US" sz="2700" b="1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8C40E-4938-936F-7665-AEC3197166E0}"/>
              </a:ext>
            </a:extLst>
          </p:cNvPr>
          <p:cNvSpPr txBox="1"/>
          <p:nvPr/>
        </p:nvSpPr>
        <p:spPr>
          <a:xfrm>
            <a:off x="1607153" y="1836366"/>
            <a:ext cx="6100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2. Reading the Cleaned Dataset</a:t>
            </a:r>
          </a:p>
          <a:p>
            <a:pPr>
              <a:buNone/>
            </a:pPr>
            <a:r>
              <a:rPr lang="en-IN" dirty="0">
                <a:latin typeface="Aptos" panose="020B0004020202020204" pitchFamily="34" charset="0"/>
              </a:rPr>
              <a:t>The newly created CSV file is then loaded again using Pandas for data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50F88-9731-B826-3645-83094964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710" y="2867980"/>
            <a:ext cx="6100009" cy="3097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7D17CE-4E8B-B88E-F8E6-38918BAF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163" y="1824334"/>
            <a:ext cx="4126802" cy="399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0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A167BC-5B9B-BC4B-3795-EED2A6946ABC}"/>
              </a:ext>
            </a:extLst>
          </p:cNvPr>
          <p:cNvSpPr txBox="1"/>
          <p:nvPr/>
        </p:nvSpPr>
        <p:spPr>
          <a:xfrm>
            <a:off x="3416901" y="843148"/>
            <a:ext cx="53581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latin typeface="Aptos" panose="020B0004020202020204" pitchFamily="34" charset="0"/>
              </a:rPr>
              <a:t>FUEL EFFICIENCY COMPARISION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279E0-7648-C461-B480-4C5A8D962334}"/>
              </a:ext>
            </a:extLst>
          </p:cNvPr>
          <p:cNvSpPr txBox="1"/>
          <p:nvPr/>
        </p:nvSpPr>
        <p:spPr>
          <a:xfrm>
            <a:off x="435335" y="1378484"/>
            <a:ext cx="1013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Fuel efficiency is compared across individual vehicle models to understand the variation in mileage.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473A2-C1C4-6342-EC3B-70EFDE079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" y="3792352"/>
            <a:ext cx="5733212" cy="2222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CC32DF-A4CF-F310-7411-5C28BD673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945" y="2339439"/>
            <a:ext cx="5038542" cy="33637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E26B0C-A454-1215-7CD0-D6AAA87FA343}"/>
              </a:ext>
            </a:extLst>
          </p:cNvPr>
          <p:cNvSpPr txBox="1"/>
          <p:nvPr/>
        </p:nvSpPr>
        <p:spPr>
          <a:xfrm>
            <a:off x="435335" y="1720311"/>
            <a:ext cx="69986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Operations Performed:</a:t>
            </a:r>
            <a:endParaRPr lang="en-IN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Loaded the cleaned dataset using </a:t>
            </a:r>
            <a:r>
              <a:rPr lang="en-IN" b="1" dirty="0"/>
              <a:t>Pandas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Selected </a:t>
            </a:r>
            <a:r>
              <a:rPr lang="en-IN" b="1" dirty="0"/>
              <a:t>Model, Maker, and Fuel Efficiency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Sorted vehicles by </a:t>
            </a:r>
            <a:r>
              <a:rPr lang="en-IN" b="1" dirty="0"/>
              <a:t>fuel efficiency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Arranged results from </a:t>
            </a:r>
            <a:r>
              <a:rPr lang="en-IN" b="1" dirty="0"/>
              <a:t>highest to lowest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Compared values across </a:t>
            </a:r>
            <a:r>
              <a:rPr lang="en-IN" b="1" dirty="0"/>
              <a:t>vehicle models</a:t>
            </a:r>
            <a:r>
              <a:rPr lang="en-IN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8C2B6-240B-105F-C236-B7354DEBF22E}"/>
              </a:ext>
            </a:extLst>
          </p:cNvPr>
          <p:cNvSpPr txBox="1"/>
          <p:nvPr/>
        </p:nvSpPr>
        <p:spPr>
          <a:xfrm>
            <a:off x="6970945" y="1920995"/>
            <a:ext cx="1047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26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C1E69C-0F74-37EA-5E12-5F48833B5A81}"/>
              </a:ext>
            </a:extLst>
          </p:cNvPr>
          <p:cNvSpPr txBox="1"/>
          <p:nvPr/>
        </p:nvSpPr>
        <p:spPr>
          <a:xfrm>
            <a:off x="3310247" y="767363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Aptos" panose="020B0004020202020204" pitchFamily="34" charset="0"/>
              </a:rPr>
              <a:t>MANUFACTURER-WISE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72270-7851-9741-BBC8-F04CA99094F4}"/>
              </a:ext>
            </a:extLst>
          </p:cNvPr>
          <p:cNvSpPr txBox="1"/>
          <p:nvPr/>
        </p:nvSpPr>
        <p:spPr>
          <a:xfrm>
            <a:off x="1124952" y="1493604"/>
            <a:ext cx="9444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ptos" panose="020B0004020202020204" pitchFamily="34" charset="0"/>
              </a:rPr>
              <a:t>The analysis examines whether average fuel efficiency differs among vehicle manufacturers.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99F9B-F28F-8161-EA41-930FD2D33970}"/>
              </a:ext>
            </a:extLst>
          </p:cNvPr>
          <p:cNvSpPr txBox="1"/>
          <p:nvPr/>
        </p:nvSpPr>
        <p:spPr>
          <a:xfrm>
            <a:off x="1124952" y="1862936"/>
            <a:ext cx="61000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Operations Performed:</a:t>
            </a:r>
            <a:endParaRPr lang="en-IN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Grouped vehicles by </a:t>
            </a:r>
            <a:r>
              <a:rPr lang="en-IN" b="1" dirty="0"/>
              <a:t>Maker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Fuel Efficiency</a:t>
            </a:r>
            <a:r>
              <a:rPr lang="en-IN" dirty="0"/>
              <a:t> for comparison.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Calculated </a:t>
            </a:r>
            <a:r>
              <a:rPr lang="en-IN" b="1" dirty="0"/>
              <a:t>mean fuel efficiency</a:t>
            </a:r>
            <a:r>
              <a:rPr lang="en-IN" dirty="0"/>
              <a:t> for each manufacturer.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Sorted averages in </a:t>
            </a:r>
            <a:r>
              <a:rPr lang="en-IN" b="1" dirty="0"/>
              <a:t>descending order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Compared efficiency across manufacturers.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101B49-9FCE-C085-3B54-2BB9345A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71" y="4159250"/>
            <a:ext cx="6057900" cy="146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6A194-7C8B-A537-E551-730768BD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852" y="2550209"/>
            <a:ext cx="4724400" cy="2197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E3B3F6-5D31-A366-C388-DD799560B1D7}"/>
              </a:ext>
            </a:extLst>
          </p:cNvPr>
          <p:cNvSpPr txBox="1"/>
          <p:nvPr/>
        </p:nvSpPr>
        <p:spPr>
          <a:xfrm>
            <a:off x="7064225" y="2180877"/>
            <a:ext cx="110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489820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B593D4-31E0-D634-EC08-20A8B0ECB91B}"/>
              </a:ext>
            </a:extLst>
          </p:cNvPr>
          <p:cNvSpPr txBox="1"/>
          <p:nvPr/>
        </p:nvSpPr>
        <p:spPr>
          <a:xfrm>
            <a:off x="3325092" y="427510"/>
            <a:ext cx="578504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dirty="0">
                <a:latin typeface="Aptos" panose="020B0004020202020204" pitchFamily="34" charset="0"/>
              </a:rPr>
              <a:t>ENGINE SIZE VS MILEAGE ANALYSIS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E8B33-F620-A435-BBC3-263122C019EE}"/>
              </a:ext>
            </a:extLst>
          </p:cNvPr>
          <p:cNvSpPr txBox="1"/>
          <p:nvPr/>
        </p:nvSpPr>
        <p:spPr>
          <a:xfrm>
            <a:off x="885258" y="952556"/>
            <a:ext cx="801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To examine the relationship between engine size and vehicle mileage.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BC487-8C0D-FC97-04F7-91EDE3DC5E83}"/>
              </a:ext>
            </a:extLst>
          </p:cNvPr>
          <p:cNvSpPr txBox="1"/>
          <p:nvPr/>
        </p:nvSpPr>
        <p:spPr>
          <a:xfrm>
            <a:off x="885258" y="1321888"/>
            <a:ext cx="52107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b="1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Operations Performed:</a:t>
            </a:r>
            <a:endParaRPr lang="en-IN" sz="1600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Used </a:t>
            </a:r>
            <a:r>
              <a:rPr lang="en-IN" sz="1600" b="1" dirty="0"/>
              <a:t>Displacement</a:t>
            </a:r>
            <a:r>
              <a:rPr lang="en-IN" sz="1600" dirty="0"/>
              <a:t> as engine size and </a:t>
            </a:r>
            <a:r>
              <a:rPr lang="en-IN" sz="1600" b="1" dirty="0"/>
              <a:t>Fuel Efficiency</a:t>
            </a:r>
            <a:r>
              <a:rPr lang="en-IN" sz="1600" dirty="0"/>
              <a:t> as mileage</a:t>
            </a:r>
            <a:r>
              <a:rPr lang="en-IN" sz="1600" dirty="0">
                <a:latin typeface="Aptos" panose="020B0004020202020204" pitchFamily="34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Selected </a:t>
            </a:r>
            <a:r>
              <a:rPr lang="en-IN" sz="1600" b="1" dirty="0"/>
              <a:t>Model, Displacement, and Fuel Efficiency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Sorted vehicles by </a:t>
            </a:r>
            <a:r>
              <a:rPr lang="en-IN" sz="1600" b="1" dirty="0"/>
              <a:t>Displacement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Compared fuel efficiency across different engine sizes.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Calculated the </a:t>
            </a:r>
            <a:r>
              <a:rPr lang="en-IN" sz="1600" b="1" dirty="0"/>
              <a:t>correlation coefficient</a:t>
            </a:r>
            <a:r>
              <a:rPr lang="en-IN" sz="1600" dirty="0"/>
              <a:t> between Displacement and Fuel Efficiency.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44AEB-C17C-F1FD-DDF1-FFC2D623A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4" y="4122655"/>
            <a:ext cx="5210742" cy="259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314445-A05A-4D16-2F0D-DC51E1860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1888"/>
            <a:ext cx="4361413" cy="23725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4CAAC5-A771-C90B-86CB-ED62C0C2E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87796"/>
            <a:ext cx="4884385" cy="26605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E1C07D-C323-8F8F-0D12-0C72CF21ADBA}"/>
              </a:ext>
            </a:extLst>
          </p:cNvPr>
          <p:cNvSpPr txBox="1"/>
          <p:nvPr/>
        </p:nvSpPr>
        <p:spPr>
          <a:xfrm>
            <a:off x="6042718" y="3803971"/>
            <a:ext cx="128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767808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3ADFF-8C1E-7936-3228-AE1EDAF36DD5}"/>
              </a:ext>
            </a:extLst>
          </p:cNvPr>
          <p:cNvSpPr txBox="1"/>
          <p:nvPr/>
        </p:nvSpPr>
        <p:spPr>
          <a:xfrm>
            <a:off x="2884949" y="612985"/>
            <a:ext cx="609797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dirty="0">
                <a:latin typeface="Aptos" panose="020B0004020202020204" pitchFamily="34" charset="0"/>
              </a:rPr>
              <a:t>DATA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0DB3B-007D-6A08-17C3-3E76C8ABC576}"/>
              </a:ext>
            </a:extLst>
          </p:cNvPr>
          <p:cNvSpPr txBox="1"/>
          <p:nvPr/>
        </p:nvSpPr>
        <p:spPr>
          <a:xfrm>
            <a:off x="332508" y="1227694"/>
            <a:ext cx="22823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</a:t>
            </a:r>
            <a:r>
              <a:rPr lang="en-IN" dirty="0" err="1"/>
              <a:t>analyzing</a:t>
            </a:r>
            <a:r>
              <a:rPr lang="en-IN" dirty="0"/>
              <a:t> the cleaned vehicle dataset, results are visualized using </a:t>
            </a:r>
            <a:r>
              <a:rPr lang="en-IN" b="1" dirty="0"/>
              <a:t>Python and Matplotlib</a:t>
            </a:r>
            <a:r>
              <a:rPr lang="en-IN" dirty="0"/>
              <a:t> to identify relationships,</a:t>
            </a:r>
          </a:p>
          <a:p>
            <a:r>
              <a:rPr lang="en-IN" dirty="0"/>
              <a:t>compare manufacturers, and understand fuel-efficiency distribution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ADA06B-DC9C-B310-EA96-A2EFF6E16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980388"/>
              </p:ext>
            </p:extLst>
          </p:nvPr>
        </p:nvGraphicFramePr>
        <p:xfrm>
          <a:off x="2284490" y="2175560"/>
          <a:ext cx="6918888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9722">
                  <a:extLst>
                    <a:ext uri="{9D8B030D-6E8A-4147-A177-3AD203B41FA5}">
                      <a16:colId xmlns:a16="http://schemas.microsoft.com/office/drawing/2014/main" val="1203422716"/>
                    </a:ext>
                  </a:extLst>
                </a:gridCol>
                <a:gridCol w="1729722">
                  <a:extLst>
                    <a:ext uri="{9D8B030D-6E8A-4147-A177-3AD203B41FA5}">
                      <a16:colId xmlns:a16="http://schemas.microsoft.com/office/drawing/2014/main" val="126427535"/>
                    </a:ext>
                  </a:extLst>
                </a:gridCol>
                <a:gridCol w="1729722">
                  <a:extLst>
                    <a:ext uri="{9D8B030D-6E8A-4147-A177-3AD203B41FA5}">
                      <a16:colId xmlns:a16="http://schemas.microsoft.com/office/drawing/2014/main" val="3770932714"/>
                    </a:ext>
                  </a:extLst>
                </a:gridCol>
                <a:gridCol w="1729722">
                  <a:extLst>
                    <a:ext uri="{9D8B030D-6E8A-4147-A177-3AD203B41FA5}">
                      <a16:colId xmlns:a16="http://schemas.microsoft.com/office/drawing/2014/main" val="1125450392"/>
                    </a:ext>
                  </a:extLst>
                </a:gridCol>
              </a:tblGrid>
              <a:tr h="326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248421"/>
                  </a:ext>
                </a:extLst>
              </a:tr>
              <a:tr h="1305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Engine Size vs Mileage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Scatter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the relationship between engine size and fuel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Displacement + Fuel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718977"/>
                  </a:ext>
                </a:extLst>
              </a:tr>
              <a:tr h="1305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Manufacturer-wise Fuel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Compares average fuel efficiency of different manufacturers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Maker + Average Fuel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5937"/>
                  </a:ext>
                </a:extLst>
              </a:tr>
              <a:tr h="1061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Fuel Efficiency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Histogram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how fuel-efficiency values are distributed across vehicles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Fuel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95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159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E9E75-A9D2-398A-B188-ADA549F13C88}"/>
              </a:ext>
            </a:extLst>
          </p:cNvPr>
          <p:cNvSpPr txBox="1"/>
          <p:nvPr/>
        </p:nvSpPr>
        <p:spPr>
          <a:xfrm>
            <a:off x="3809010" y="765360"/>
            <a:ext cx="609797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700" b="1" dirty="0">
                <a:latin typeface="Aptos" panose="020B0004020202020204" pitchFamily="34" charset="0"/>
              </a:rPr>
              <a:t>  ENGINE SIZE VS MILEAGE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665E9-9EA4-8550-68FE-79FF3C9BB6DB}"/>
              </a:ext>
            </a:extLst>
          </p:cNvPr>
          <p:cNvSpPr txBox="1"/>
          <p:nvPr/>
        </p:nvSpPr>
        <p:spPr>
          <a:xfrm>
            <a:off x="1894972" y="1397674"/>
            <a:ext cx="64415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Scatter Plot</a:t>
            </a:r>
            <a:endParaRPr lang="en-IN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Compares engine size with fuel efficiency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Each point represents a vehicle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Shows how fuel efficiency varies with different engine sizes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Helps observe the relationship between engine displacement and mileage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134B3-4DCB-1C39-72C3-49699E5C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77" y="3276483"/>
            <a:ext cx="5733049" cy="2256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5F6CCF-8F63-6CA5-BA29-EA5DA4C7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389" y="3152000"/>
            <a:ext cx="4381058" cy="238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01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F7D098-1DD0-68FC-402C-D90EF9048371}"/>
              </a:ext>
            </a:extLst>
          </p:cNvPr>
          <p:cNvSpPr txBox="1"/>
          <p:nvPr/>
        </p:nvSpPr>
        <p:spPr>
          <a:xfrm>
            <a:off x="2582806" y="364918"/>
            <a:ext cx="609797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dirty="0">
                <a:latin typeface="Aptos" panose="020B0004020202020204" pitchFamily="34" charset="0"/>
              </a:rPr>
              <a:t>SCATTER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FDBC6-D94E-6310-8AD6-9F90ECB4DE5C}"/>
              </a:ext>
            </a:extLst>
          </p:cNvPr>
          <p:cNvSpPr txBox="1"/>
          <p:nvPr/>
        </p:nvSpPr>
        <p:spPr>
          <a:xfrm>
            <a:off x="8600573" y="1577551"/>
            <a:ext cx="35914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Title:</a:t>
            </a:r>
            <a:r>
              <a:rPr lang="en-IN" dirty="0"/>
              <a:t> Engine Size vs Mileage</a:t>
            </a:r>
          </a:p>
          <a:p>
            <a:pPr>
              <a:buNone/>
            </a:pPr>
            <a:r>
              <a:rPr lang="en-IN" b="1" dirty="0"/>
              <a:t>X-axis:</a:t>
            </a:r>
            <a:br>
              <a:rPr lang="en-IN" dirty="0"/>
            </a:br>
            <a:r>
              <a:rPr lang="en-IN" dirty="0">
                <a:latin typeface="+mn-lt"/>
              </a:rPr>
              <a:t>Engine Size (Displacement)</a:t>
            </a:r>
            <a:endParaRPr lang="en-IN" dirty="0"/>
          </a:p>
          <a:p>
            <a:pPr>
              <a:buNone/>
            </a:pPr>
            <a:r>
              <a:rPr lang="en-IN" b="1" dirty="0"/>
              <a:t>Y-axis:</a:t>
            </a:r>
            <a:br>
              <a:rPr lang="en-IN" dirty="0"/>
            </a:br>
            <a:r>
              <a:rPr lang="en-IN" dirty="0">
                <a:latin typeface="+mn-lt"/>
              </a:rPr>
              <a:t>Mileage (Fuel Efficiency)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EA1511-57DC-5973-2F43-6FB2C551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872749"/>
            <a:ext cx="7150100" cy="516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10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53EC61-A531-F62C-DDA8-9E5A82AFF5BB}"/>
              </a:ext>
            </a:extLst>
          </p:cNvPr>
          <p:cNvSpPr txBox="1"/>
          <p:nvPr/>
        </p:nvSpPr>
        <p:spPr>
          <a:xfrm>
            <a:off x="3025274" y="431801"/>
            <a:ext cx="674102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latin typeface="Aptos" panose="020B0004020202020204" pitchFamily="34" charset="0"/>
              </a:rPr>
              <a:t>MANUFACTURER-WISE FUEL EFFICIENCY</a:t>
            </a:r>
            <a:endParaRPr lang="en-US" sz="27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145F6-451C-074B-A839-70F979E7959A}"/>
              </a:ext>
            </a:extLst>
          </p:cNvPr>
          <p:cNvSpPr txBox="1"/>
          <p:nvPr/>
        </p:nvSpPr>
        <p:spPr>
          <a:xfrm>
            <a:off x="460542" y="1612732"/>
            <a:ext cx="56354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Bar Chart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Compares average fuel efficiency across manufacturers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Shows differences in average mileage between </a:t>
            </a:r>
            <a:r>
              <a:rPr lang="en-IN" dirty="0">
                <a:latin typeface="Aptos" panose="020B0004020202020204" pitchFamily="34" charset="0"/>
              </a:rPr>
              <a:t>manufacturers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Makes manufacturer-wise fuel-efficiency comparison easier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Helps identify how fuel efficiency varies across manufacturers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FC3F54-3352-70CE-9F10-05715C16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0" y="1447463"/>
            <a:ext cx="4883150" cy="38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95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1DEF2-2CE9-0DF5-B4CF-1787CB0AC83C}"/>
              </a:ext>
            </a:extLst>
          </p:cNvPr>
          <p:cNvSpPr txBox="1"/>
          <p:nvPr/>
        </p:nvSpPr>
        <p:spPr>
          <a:xfrm>
            <a:off x="4965118" y="787400"/>
            <a:ext cx="199997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latin typeface="Aptos" panose="020B0004020202020204" pitchFamily="34" charset="0"/>
              </a:rPr>
              <a:t>BAR CHART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7B143-486B-2E56-9D78-D163015E5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12" y="1442494"/>
            <a:ext cx="7772400" cy="44260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828A4E-FAAD-4A56-7EF5-55BF71AD7568}"/>
              </a:ext>
            </a:extLst>
          </p:cNvPr>
          <p:cNvSpPr txBox="1"/>
          <p:nvPr/>
        </p:nvSpPr>
        <p:spPr>
          <a:xfrm>
            <a:off x="8095389" y="1862435"/>
            <a:ext cx="3715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Title:</a:t>
            </a:r>
            <a:r>
              <a:rPr lang="en-IN" dirty="0">
                <a:latin typeface="Aptos" panose="020B0004020202020204" pitchFamily="34" charset="0"/>
              </a:rPr>
              <a:t> Manufacturer-wise Average Fuel Efficiency</a:t>
            </a: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X-axis:</a:t>
            </a:r>
            <a:r>
              <a:rPr lang="en-IN" dirty="0">
                <a:latin typeface="Aptos" panose="020B0004020202020204" pitchFamily="34" charset="0"/>
              </a:rPr>
              <a:t> Manufacturer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Y-axis:</a:t>
            </a:r>
            <a:r>
              <a:rPr lang="en-IN" dirty="0">
                <a:latin typeface="Aptos" panose="020B0004020202020204" pitchFamily="34" charset="0"/>
              </a:rPr>
              <a:t> Average Fuel Efficiency</a:t>
            </a:r>
          </a:p>
        </p:txBody>
      </p:sp>
    </p:spTree>
    <p:extLst>
      <p:ext uri="{BB962C8B-B14F-4D97-AF65-F5344CB8AC3E}">
        <p14:creationId xmlns:p14="http://schemas.microsoft.com/office/powerpoint/2010/main" val="3012338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E2210-2ADF-AC54-54B8-95A94F3016C1}"/>
              </a:ext>
            </a:extLst>
          </p:cNvPr>
          <p:cNvSpPr txBox="1"/>
          <p:nvPr/>
        </p:nvSpPr>
        <p:spPr>
          <a:xfrm>
            <a:off x="1625600" y="15739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Histogram</a:t>
            </a:r>
            <a:endParaRPr lang="en-IN" dirty="0"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Shows the distribution of fuel-efficiency values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Groups fuel-efficiency values into intervals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Helps identify commonly occurring mileage ranges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Shows how fuel-efficiency values are spread across the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C22ED-8673-F376-FE9E-1E80B877A4A6}"/>
              </a:ext>
            </a:extLst>
          </p:cNvPr>
          <p:cNvSpPr txBox="1"/>
          <p:nvPr/>
        </p:nvSpPr>
        <p:spPr>
          <a:xfrm>
            <a:off x="3441700" y="83828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latin typeface="Aptos" panose="020B0004020202020204" pitchFamily="34" charset="0"/>
              </a:rPr>
              <a:t> FUEL EFFICIENCY DISTRIBUTION</a:t>
            </a:r>
            <a:endParaRPr lang="en-US" sz="2700" b="1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76963-FE23-7130-1CFA-EA7AFEBF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3429000"/>
            <a:ext cx="59309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0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E2625-F91A-28B2-E6A0-99B6F04D3D9E}"/>
              </a:ext>
            </a:extLst>
          </p:cNvPr>
          <p:cNvSpPr txBox="1"/>
          <p:nvPr/>
        </p:nvSpPr>
        <p:spPr>
          <a:xfrm>
            <a:off x="4356100" y="622385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latin typeface="Aptos" panose="020B0004020202020204" pitchFamily="34" charset="0"/>
              </a:rPr>
              <a:t> HISTOGRAM</a:t>
            </a:r>
            <a:endParaRPr lang="en-US" sz="27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174B9-61D4-6D72-45EE-031D9CF0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1130216"/>
            <a:ext cx="7251700" cy="5190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F7C033-D29E-E099-7741-A0B3BF6EC2AD}"/>
              </a:ext>
            </a:extLst>
          </p:cNvPr>
          <p:cNvSpPr txBox="1"/>
          <p:nvPr/>
        </p:nvSpPr>
        <p:spPr>
          <a:xfrm>
            <a:off x="8559800" y="1560374"/>
            <a:ext cx="4724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Chart Title: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Fuel Efficiency Distribution</a:t>
            </a:r>
            <a:endParaRPr lang="en-IN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X-axis: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Fuel Efficiency</a:t>
            </a:r>
          </a:p>
          <a:p>
            <a:pPr>
              <a:buNone/>
            </a:pPr>
            <a:r>
              <a:rPr lang="en-IN" b="1" dirty="0">
                <a:latin typeface="Aptos" panose="020B0004020202020204" pitchFamily="34" charset="0"/>
              </a:rPr>
              <a:t>Y-axis: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dirty="0">
                <a:latin typeface="Aptos" panose="020B0004020202020204" pitchFamily="34" charset="0"/>
              </a:rPr>
              <a:t>Number of Vehicles</a:t>
            </a:r>
          </a:p>
        </p:txBody>
      </p:sp>
    </p:spTree>
    <p:extLst>
      <p:ext uri="{BB962C8B-B14F-4D97-AF65-F5344CB8AC3E}">
        <p14:creationId xmlns:p14="http://schemas.microsoft.com/office/powerpoint/2010/main" val="209713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F405E1-8863-9BA8-265F-270A2E45481E}"/>
              </a:ext>
            </a:extLst>
          </p:cNvPr>
          <p:cNvSpPr txBox="1"/>
          <p:nvPr/>
        </p:nvSpPr>
        <p:spPr>
          <a:xfrm>
            <a:off x="3186545" y="826485"/>
            <a:ext cx="4959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27B9A-2493-E9FD-C815-BC4595A13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66044"/>
            <a:ext cx="10287000" cy="61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90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BB2E8-D600-B50A-8157-ACB64EB541AC}"/>
              </a:ext>
            </a:extLst>
          </p:cNvPr>
          <p:cNvSpPr txBox="1"/>
          <p:nvPr/>
        </p:nvSpPr>
        <p:spPr>
          <a:xfrm>
            <a:off x="4003964" y="708976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Aptos" panose="020B0004020202020204" pitchFamily="34" charset="0"/>
              </a:rPr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5A514-0B32-B6BC-CB3D-17E92BB22298}"/>
              </a:ext>
            </a:extLst>
          </p:cNvPr>
          <p:cNvSpPr txBox="1"/>
          <p:nvPr/>
        </p:nvSpPr>
        <p:spPr>
          <a:xfrm>
            <a:off x="1814946" y="1216807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b="1" dirty="0"/>
              <a:t>1. GPS Integration</a:t>
            </a:r>
            <a:endParaRPr lang="en-IN" dirty="0"/>
          </a:p>
          <a:p>
            <a:pPr lvl="0"/>
            <a:r>
              <a:rPr lang="en-IN" dirty="0"/>
              <a:t>Track vehicle location and trip routes. </a:t>
            </a:r>
          </a:p>
          <a:p>
            <a:pPr lvl="0"/>
            <a:r>
              <a:rPr lang="en-IN" dirty="0"/>
              <a:t>Improve fuel-efficiency analysis. </a:t>
            </a:r>
          </a:p>
          <a:p>
            <a:pPr lvl="0"/>
            <a:endParaRPr lang="en-IN" dirty="0"/>
          </a:p>
          <a:p>
            <a:r>
              <a:rPr lang="en-IN" b="1" dirty="0"/>
              <a:t>2. IoT Fuel Monitoring</a:t>
            </a:r>
            <a:endParaRPr lang="en-IN" dirty="0"/>
          </a:p>
          <a:p>
            <a:pPr lvl="0"/>
            <a:r>
              <a:rPr lang="en-IN" dirty="0"/>
              <a:t>Collect real-time fuel-consumption data. </a:t>
            </a:r>
          </a:p>
          <a:p>
            <a:pPr lvl="0"/>
            <a:r>
              <a:rPr lang="en-IN" dirty="0"/>
              <a:t>Monitor fuel usage and performance. </a:t>
            </a:r>
          </a:p>
          <a:p>
            <a:pPr lvl="0"/>
            <a:endParaRPr lang="en-IN" dirty="0"/>
          </a:p>
          <a:p>
            <a:r>
              <a:rPr lang="en-IN" b="1" dirty="0"/>
              <a:t>3. Predictive Maintenance</a:t>
            </a:r>
            <a:endParaRPr lang="en-IN" dirty="0"/>
          </a:p>
          <a:p>
            <a:pPr lvl="0"/>
            <a:r>
              <a:rPr lang="en-IN" dirty="0"/>
              <a:t>Identify maintenance needs early. </a:t>
            </a:r>
          </a:p>
          <a:p>
            <a:pPr lvl="0"/>
            <a:r>
              <a:rPr lang="en-IN" dirty="0"/>
              <a:t>Detect performance issues. </a:t>
            </a:r>
          </a:p>
          <a:p>
            <a:pPr lvl="0"/>
            <a:endParaRPr lang="en-IN" dirty="0"/>
          </a:p>
          <a:p>
            <a:r>
              <a:rPr lang="en-IN" b="1" dirty="0"/>
              <a:t>4. AI-Based Forecasting</a:t>
            </a:r>
            <a:endParaRPr lang="en-IN" dirty="0"/>
          </a:p>
          <a:p>
            <a:pPr lvl="0"/>
            <a:r>
              <a:rPr lang="en-IN" dirty="0"/>
              <a:t>Predict future fuel consumption. </a:t>
            </a:r>
          </a:p>
          <a:p>
            <a:pPr lvl="0"/>
            <a:r>
              <a:rPr lang="en-IN" dirty="0"/>
              <a:t>Support better fuel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8629C-E0A0-AB4C-4F22-85E1271C2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244" y="2020712"/>
            <a:ext cx="6242756" cy="483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05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F67611-E888-8364-E6D1-C60A23CD47CB}"/>
              </a:ext>
            </a:extLst>
          </p:cNvPr>
          <p:cNvSpPr txBox="1"/>
          <p:nvPr/>
        </p:nvSpPr>
        <p:spPr>
          <a:xfrm>
            <a:off x="3851563" y="547647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AF2E9-C590-A44E-7896-F2963F41EAAD}"/>
              </a:ext>
            </a:extLst>
          </p:cNvPr>
          <p:cNvSpPr txBox="1"/>
          <p:nvPr/>
        </p:nvSpPr>
        <p:spPr>
          <a:xfrm>
            <a:off x="2313709" y="142980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Vehicle data was cleaned, </a:t>
            </a:r>
            <a:r>
              <a:rPr lang="en-IN" dirty="0" err="1"/>
              <a:t>analyzed</a:t>
            </a:r>
            <a:r>
              <a:rPr lang="en-IN" dirty="0"/>
              <a:t>, and visualized using 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fuel efficiency, manufacturer performance, and engine size vs. mileage.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Used scatter plots, bar charts, and histograms for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Helps identify fuel-efficiency patterns and vehicle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Future enhancements include real-time monitoring and intelligent fuel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663DC-3109-4041-0D36-CAD73AA4AD25}"/>
              </a:ext>
            </a:extLst>
          </p:cNvPr>
          <p:cNvSpPr txBox="1"/>
          <p:nvPr/>
        </p:nvSpPr>
        <p:spPr>
          <a:xfrm>
            <a:off x="3685309" y="4920366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437836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2079</Words>
  <Application>Microsoft Macintosh PowerPoint</Application>
  <PresentationFormat>Widescreen</PresentationFormat>
  <Paragraphs>427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Hansika</dc:creator>
  <cp:keywords/>
  <dc:description>generated using python-pptx</dc:description>
  <cp:lastModifiedBy>Lanka Rama Krishna</cp:lastModifiedBy>
  <cp:revision>14</cp:revision>
  <dcterms:created xsi:type="dcterms:W3CDTF">2013-01-27T09:14:16Z</dcterms:created>
  <dcterms:modified xsi:type="dcterms:W3CDTF">2026-10-01T09:31:57Z</dcterms:modified>
  <cp:category/>
</cp:coreProperties>
</file>